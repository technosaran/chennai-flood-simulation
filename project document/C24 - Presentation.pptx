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53" r:id="rId1"/>
  </p:sldMasterIdLst>
  <p:notesMasterIdLst>
    <p:notesMasterId r:id="rId28"/>
  </p:notesMasterIdLst>
  <p:handoutMasterIdLst>
    <p:handoutMasterId r:id="rId29"/>
  </p:handoutMasterIdLst>
  <p:sldIdLst>
    <p:sldId id="256" r:id="rId2"/>
    <p:sldId id="257" r:id="rId3"/>
    <p:sldId id="271" r:id="rId4"/>
    <p:sldId id="258" r:id="rId5"/>
    <p:sldId id="274" r:id="rId6"/>
    <p:sldId id="259" r:id="rId7"/>
    <p:sldId id="260" r:id="rId8"/>
    <p:sldId id="268" r:id="rId9"/>
    <p:sldId id="263" r:id="rId10"/>
    <p:sldId id="275" r:id="rId11"/>
    <p:sldId id="265" r:id="rId12"/>
    <p:sldId id="276" r:id="rId13"/>
    <p:sldId id="264" r:id="rId14"/>
    <p:sldId id="277" r:id="rId15"/>
    <p:sldId id="266" r:id="rId16"/>
    <p:sldId id="278" r:id="rId17"/>
    <p:sldId id="279" r:id="rId18"/>
    <p:sldId id="269" r:id="rId19"/>
    <p:sldId id="270" r:id="rId20"/>
    <p:sldId id="280" r:id="rId21"/>
    <p:sldId id="272" r:id="rId22"/>
    <p:sldId id="281" r:id="rId23"/>
    <p:sldId id="282" r:id="rId24"/>
    <p:sldId id="283" r:id="rId25"/>
    <p:sldId id="267" r:id="rId26"/>
    <p:sldId id="27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A3BA"/>
    <a:srgbClr val="89CC40"/>
    <a:srgbClr val="9ED5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A96449-4B69-D3AE-83A1-9043D474038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FEA8B06-378B-2B4B-849A-30F119D693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D13E1C-B405-49F3-9988-CF8465A7E408}" type="datetime1">
              <a:rPr lang="en-IN" smtClean="0"/>
              <a:t>22-10-2026</a:t>
            </a:fld>
            <a:endParaRPr lang="en-IN"/>
          </a:p>
        </p:txBody>
      </p:sp>
      <p:sp>
        <p:nvSpPr>
          <p:cNvPr id="4" name="Footer Placeholder 3">
            <a:extLst>
              <a:ext uri="{FF2B5EF4-FFF2-40B4-BE49-F238E27FC236}">
                <a16:creationId xmlns:a16="http://schemas.microsoft.com/office/drawing/2014/main" id="{E032CE3A-C768-7FBC-6279-D4561D496C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1</a:t>
            </a:r>
          </a:p>
        </p:txBody>
      </p:sp>
      <p:sp>
        <p:nvSpPr>
          <p:cNvPr id="5" name="Slide Number Placeholder 4">
            <a:extLst>
              <a:ext uri="{FF2B5EF4-FFF2-40B4-BE49-F238E27FC236}">
                <a16:creationId xmlns:a16="http://schemas.microsoft.com/office/drawing/2014/main" id="{6AAEF610-7E21-06E6-A16F-90BCB34F72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F8B8AB-2486-4E8A-99A9-C90C48436DB3}" type="slidenum">
              <a:rPr lang="en-IN" smtClean="0"/>
              <a:t>‹#›</a:t>
            </a:fld>
            <a:endParaRPr lang="en-IN"/>
          </a:p>
        </p:txBody>
      </p:sp>
    </p:spTree>
    <p:extLst>
      <p:ext uri="{BB962C8B-B14F-4D97-AF65-F5344CB8AC3E}">
        <p14:creationId xmlns:p14="http://schemas.microsoft.com/office/powerpoint/2010/main" val="31478906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291219-8466-4718-8DFA-CB8662D6B5A3}" type="datetime1">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D0E104-BD0E-4474-ACFB-55C80E29311E}" type="slidenum">
              <a:rPr lang="en-IN" smtClean="0"/>
              <a:t>‹#›</a:t>
            </a:fld>
            <a:endParaRPr lang="en-IN"/>
          </a:p>
        </p:txBody>
      </p:sp>
    </p:spTree>
    <p:extLst>
      <p:ext uri="{BB962C8B-B14F-4D97-AF65-F5344CB8AC3E}">
        <p14:creationId xmlns:p14="http://schemas.microsoft.com/office/powerpoint/2010/main" val="16784691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AD89F8-4583-4C83-B887-E78D4B4D5E4C}" type="datetime1">
              <a:rPr lang="en-IN" smtClean="0"/>
              <a:t>22-10-2026</a:t>
            </a:fld>
            <a:endParaRPr lang="en-IN"/>
          </a:p>
        </p:txBody>
      </p:sp>
      <p:sp>
        <p:nvSpPr>
          <p:cNvPr id="5" name="Footer Placeholder 4"/>
          <p:cNvSpPr>
            <a:spLocks noGrp="1"/>
          </p:cNvSpPr>
          <p:nvPr>
            <p:ph type="ftr" sz="quarter" idx="11"/>
          </p:nvPr>
        </p:nvSpPr>
        <p:spPr/>
        <p:txBody>
          <a:bodyPr/>
          <a:lstStyle/>
          <a:p>
            <a:r>
              <a:rPr lang="en-IN"/>
              <a:t>1</a:t>
            </a:r>
          </a:p>
        </p:txBody>
      </p:sp>
      <p:sp>
        <p:nvSpPr>
          <p:cNvPr id="6" name="Slide Number Placeholder 5"/>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4168940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AB5F4F-0E3C-47F3-93BA-9C3E7BB97F9B}" type="datetime1">
              <a:rPr lang="en-IN" smtClean="0"/>
              <a:t>22-10-2026</a:t>
            </a:fld>
            <a:endParaRPr lang="en-IN"/>
          </a:p>
        </p:txBody>
      </p:sp>
      <p:sp>
        <p:nvSpPr>
          <p:cNvPr id="5" name="Footer Placeholder 4"/>
          <p:cNvSpPr>
            <a:spLocks noGrp="1"/>
          </p:cNvSpPr>
          <p:nvPr>
            <p:ph type="ftr" sz="quarter" idx="11"/>
          </p:nvPr>
        </p:nvSpPr>
        <p:spPr/>
        <p:txBody>
          <a:bodyPr/>
          <a:lstStyle/>
          <a:p>
            <a:r>
              <a:rPr lang="en-IN"/>
              <a:t>1</a:t>
            </a:r>
          </a:p>
        </p:txBody>
      </p:sp>
      <p:sp>
        <p:nvSpPr>
          <p:cNvPr id="6" name="Slide Number Placeholder 5"/>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2302910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AEAF95-D305-4E0C-A6F1-A279398227B2}" type="datetime1">
              <a:rPr lang="en-IN" smtClean="0"/>
              <a:t>22-10-2026</a:t>
            </a:fld>
            <a:endParaRPr lang="en-IN"/>
          </a:p>
        </p:txBody>
      </p:sp>
      <p:sp>
        <p:nvSpPr>
          <p:cNvPr id="5" name="Footer Placeholder 4"/>
          <p:cNvSpPr>
            <a:spLocks noGrp="1"/>
          </p:cNvSpPr>
          <p:nvPr>
            <p:ph type="ftr" sz="quarter" idx="11"/>
          </p:nvPr>
        </p:nvSpPr>
        <p:spPr/>
        <p:txBody>
          <a:bodyPr/>
          <a:lstStyle/>
          <a:p>
            <a:r>
              <a:rPr lang="en-IN"/>
              <a:t>1</a:t>
            </a:r>
          </a:p>
        </p:txBody>
      </p:sp>
      <p:sp>
        <p:nvSpPr>
          <p:cNvPr id="6" name="Slide Number Placeholder 5"/>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2190855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581649-9AE9-4FD9-889D-5679020A05EE}" type="datetime1">
              <a:rPr lang="en-IN" smtClean="0"/>
              <a:t>22-10-2026</a:t>
            </a:fld>
            <a:endParaRPr lang="en-IN"/>
          </a:p>
        </p:txBody>
      </p:sp>
      <p:sp>
        <p:nvSpPr>
          <p:cNvPr id="6" name="Footer Placeholder 5"/>
          <p:cNvSpPr>
            <a:spLocks noGrp="1"/>
          </p:cNvSpPr>
          <p:nvPr>
            <p:ph type="ftr" sz="quarter" idx="11"/>
          </p:nvPr>
        </p:nvSpPr>
        <p:spPr/>
        <p:txBody>
          <a:bodyPr/>
          <a:lstStyle/>
          <a:p>
            <a:r>
              <a:rPr lang="en-IN"/>
              <a:t>1</a:t>
            </a:r>
          </a:p>
        </p:txBody>
      </p:sp>
      <p:sp>
        <p:nvSpPr>
          <p:cNvPr id="7" name="Slide Number Placeholder 6"/>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2648612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FE20D1-3598-4C14-A388-A5F25190D9C1}" type="datetime1">
              <a:rPr lang="en-IN" smtClean="0"/>
              <a:t>22-10-2026</a:t>
            </a:fld>
            <a:endParaRPr lang="en-IN"/>
          </a:p>
        </p:txBody>
      </p:sp>
      <p:sp>
        <p:nvSpPr>
          <p:cNvPr id="8" name="Footer Placeholder 7"/>
          <p:cNvSpPr>
            <a:spLocks noGrp="1"/>
          </p:cNvSpPr>
          <p:nvPr>
            <p:ph type="ftr" sz="quarter" idx="11"/>
          </p:nvPr>
        </p:nvSpPr>
        <p:spPr/>
        <p:txBody>
          <a:bodyPr/>
          <a:lstStyle/>
          <a:p>
            <a:r>
              <a:rPr lang="en-IN"/>
              <a:t>1</a:t>
            </a:r>
          </a:p>
        </p:txBody>
      </p:sp>
      <p:sp>
        <p:nvSpPr>
          <p:cNvPr id="9" name="Slide Number Placeholder 8"/>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38321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182393-709B-4A81-B301-D4CD4F41859F}" type="datetime1">
              <a:rPr lang="en-IN" smtClean="0"/>
              <a:t>22-10-2026</a:t>
            </a:fld>
            <a:endParaRPr lang="en-IN"/>
          </a:p>
        </p:txBody>
      </p:sp>
      <p:sp>
        <p:nvSpPr>
          <p:cNvPr id="4" name="Footer Placeholder 3"/>
          <p:cNvSpPr>
            <a:spLocks noGrp="1"/>
          </p:cNvSpPr>
          <p:nvPr>
            <p:ph type="ftr" sz="quarter" idx="11"/>
          </p:nvPr>
        </p:nvSpPr>
        <p:spPr/>
        <p:txBody>
          <a:bodyPr/>
          <a:lstStyle/>
          <a:p>
            <a:r>
              <a:rPr lang="en-IN"/>
              <a:t>1</a:t>
            </a:r>
          </a:p>
        </p:txBody>
      </p:sp>
      <p:sp>
        <p:nvSpPr>
          <p:cNvPr id="5" name="Slide Number Placeholder 4"/>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133918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F21AB4-10BC-4867-8EE1-BE730CEF0826}" type="datetime1">
              <a:rPr lang="en-IN" smtClean="0"/>
              <a:t>22-10-2026</a:t>
            </a:fld>
            <a:endParaRPr lang="en-IN"/>
          </a:p>
        </p:txBody>
      </p:sp>
      <p:sp>
        <p:nvSpPr>
          <p:cNvPr id="3" name="Footer Placeholder 2"/>
          <p:cNvSpPr>
            <a:spLocks noGrp="1"/>
          </p:cNvSpPr>
          <p:nvPr>
            <p:ph type="ftr" sz="quarter" idx="11"/>
          </p:nvPr>
        </p:nvSpPr>
        <p:spPr/>
        <p:txBody>
          <a:bodyPr/>
          <a:lstStyle/>
          <a:p>
            <a:r>
              <a:rPr lang="en-IN"/>
              <a:t>1</a:t>
            </a:r>
          </a:p>
        </p:txBody>
      </p:sp>
      <p:sp>
        <p:nvSpPr>
          <p:cNvPr id="4" name="Slide Number Placeholder 3"/>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1062058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4DF21B-A571-4ABF-BC65-018C1FE96140}" type="datetime1">
              <a:rPr lang="en-IN" smtClean="0"/>
              <a:t>22-10-2026</a:t>
            </a:fld>
            <a:endParaRPr lang="en-IN"/>
          </a:p>
        </p:txBody>
      </p:sp>
      <p:sp>
        <p:nvSpPr>
          <p:cNvPr id="6" name="Footer Placeholder 5"/>
          <p:cNvSpPr>
            <a:spLocks noGrp="1"/>
          </p:cNvSpPr>
          <p:nvPr>
            <p:ph type="ftr" sz="quarter" idx="11"/>
          </p:nvPr>
        </p:nvSpPr>
        <p:spPr/>
        <p:txBody>
          <a:bodyPr/>
          <a:lstStyle/>
          <a:p>
            <a:r>
              <a:rPr lang="en-IN"/>
              <a:t>1</a:t>
            </a:r>
          </a:p>
        </p:txBody>
      </p:sp>
      <p:sp>
        <p:nvSpPr>
          <p:cNvPr id="7" name="Slide Number Placeholder 6"/>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1151102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1B801C9-F7FF-4893-8321-F80FDBBE176C}" type="datetime1">
              <a:rPr lang="en-IN" smtClean="0"/>
              <a:t>22-10-2026</a:t>
            </a:fld>
            <a:endParaRPr lang="en-IN"/>
          </a:p>
        </p:txBody>
      </p:sp>
      <p:sp>
        <p:nvSpPr>
          <p:cNvPr id="6" name="Footer Placeholder 5"/>
          <p:cNvSpPr>
            <a:spLocks noGrp="1"/>
          </p:cNvSpPr>
          <p:nvPr>
            <p:ph type="ftr" sz="quarter" idx="11"/>
          </p:nvPr>
        </p:nvSpPr>
        <p:spPr/>
        <p:txBody>
          <a:bodyPr/>
          <a:lstStyle/>
          <a:p>
            <a:r>
              <a:rPr lang="en-IN"/>
              <a:t>1</a:t>
            </a:r>
          </a:p>
        </p:txBody>
      </p:sp>
      <p:sp>
        <p:nvSpPr>
          <p:cNvPr id="7" name="Slide Number Placeholder 6"/>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1016353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2F2BA1-397D-4BAC-9783-FFBADF7BB4EA}" type="datetime1">
              <a:rPr lang="en-IN" smtClean="0"/>
              <a:t>22-10-2026</a:t>
            </a:fld>
            <a:endParaRPr lang="en-IN"/>
          </a:p>
        </p:txBody>
      </p:sp>
      <p:sp>
        <p:nvSpPr>
          <p:cNvPr id="5" name="Footer Placeholder 4"/>
          <p:cNvSpPr>
            <a:spLocks noGrp="1"/>
          </p:cNvSpPr>
          <p:nvPr>
            <p:ph type="ftr" sz="quarter" idx="11"/>
          </p:nvPr>
        </p:nvSpPr>
        <p:spPr/>
        <p:txBody>
          <a:bodyPr/>
          <a:lstStyle/>
          <a:p>
            <a:r>
              <a:rPr lang="en-IN"/>
              <a:t>1</a:t>
            </a:r>
          </a:p>
        </p:txBody>
      </p:sp>
      <p:sp>
        <p:nvSpPr>
          <p:cNvPr id="6" name="Slide Number Placeholder 5"/>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669897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2463E-2EBC-469D-AAF9-CD6E78693B9E}" type="datetime1">
              <a:rPr lang="en-IN" smtClean="0"/>
              <a:t>22-10-2026</a:t>
            </a:fld>
            <a:endParaRPr lang="en-IN"/>
          </a:p>
        </p:txBody>
      </p:sp>
      <p:sp>
        <p:nvSpPr>
          <p:cNvPr id="5" name="Footer Placeholder 4"/>
          <p:cNvSpPr>
            <a:spLocks noGrp="1"/>
          </p:cNvSpPr>
          <p:nvPr>
            <p:ph type="ftr" sz="quarter" idx="11"/>
          </p:nvPr>
        </p:nvSpPr>
        <p:spPr/>
        <p:txBody>
          <a:bodyPr/>
          <a:lstStyle/>
          <a:p>
            <a:r>
              <a:rPr lang="en-IN"/>
              <a:t>1</a:t>
            </a:r>
          </a:p>
        </p:txBody>
      </p:sp>
      <p:sp>
        <p:nvSpPr>
          <p:cNvPr id="6" name="Slide Number Placeholder 5"/>
          <p:cNvSpPr>
            <a:spLocks noGrp="1"/>
          </p:cNvSpPr>
          <p:nvPr>
            <p:ph type="sldNum" sz="quarter" idx="12"/>
          </p:nvPr>
        </p:nvSpPr>
        <p:spPr/>
        <p:txBody>
          <a:bodyPr/>
          <a:lstStyle/>
          <a:p>
            <a:fld id="{7881A880-B750-4483-9D3A-6ED98ED51985}" type="slidenum">
              <a:rPr lang="en-IN" smtClean="0"/>
              <a:t>‹#›</a:t>
            </a:fld>
            <a:endParaRPr lang="en-IN"/>
          </a:p>
        </p:txBody>
      </p:sp>
    </p:spTree>
    <p:extLst>
      <p:ext uri="{BB962C8B-B14F-4D97-AF65-F5344CB8AC3E}">
        <p14:creationId xmlns:p14="http://schemas.microsoft.com/office/powerpoint/2010/main" val="41221980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AD39B2-7F8F-45C4-A8EF-B944B1A8FAAB}" type="datetime1">
              <a:rPr lang="en-IN" smtClean="0"/>
              <a:t>22-10-2026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A880-B750-4483-9D3A-6ED98ED51985}" type="slidenum">
              <a:rPr lang="en-IN" smtClean="0"/>
              <a:t>‹#›</a:t>
            </a:fld>
            <a:endParaRPr lang="en-IN"/>
          </a:p>
        </p:txBody>
      </p:sp>
    </p:spTree>
    <p:extLst>
      <p:ext uri="{BB962C8B-B14F-4D97-AF65-F5344CB8AC3E}">
        <p14:creationId xmlns:p14="http://schemas.microsoft.com/office/powerpoint/2010/main" val="3992860593"/>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 id="2147484057" r:id="rId4"/>
    <p:sldLayoutId id="2147484058" r:id="rId5"/>
    <p:sldLayoutId id="2147484059" r:id="rId6"/>
    <p:sldLayoutId id="2147484060" r:id="rId7"/>
    <p:sldLayoutId id="2147484061" r:id="rId8"/>
    <p:sldLayoutId id="2147484062" r:id="rId9"/>
    <p:sldLayoutId id="2147484063" r:id="rId10"/>
    <p:sldLayoutId id="214748406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391F-1AC1-C408-8103-BD89BFDD59E5}"/>
              </a:ext>
            </a:extLst>
          </p:cNvPr>
          <p:cNvSpPr>
            <a:spLocks noGrp="1"/>
          </p:cNvSpPr>
          <p:nvPr>
            <p:ph type="ctrTitle"/>
          </p:nvPr>
        </p:nvSpPr>
        <p:spPr>
          <a:xfrm>
            <a:off x="822960" y="1920240"/>
            <a:ext cx="10515600" cy="822960"/>
          </a:xfrm>
        </p:spPr>
        <p:txBody>
          <a:bodyPr wrap="square">
            <a:normAutofit fontScale="90000"/>
          </a:bodyPr>
          <a:lstStyle/>
          <a:p>
            <a:pPr algn="ctr">
              <a:defRPr b="1" sz="3000">
                <a:solidFill>
                  <a:srgbClr val="1E3A8A"/>
                </a:solidFill>
                <a:latin typeface="Calibri"/>
              </a:defRPr>
            </a:pPr>
            <a:r>
              <a:t>END SEMESTER PROJECT PHASE I - REVIEW</a:t>
            </a:r>
            <a:endParaRPr lang="en-IN" b="1" dirty="0"/>
          </a:p>
        </p:txBody>
      </p:sp>
      <p:sp>
        <p:nvSpPr>
          <p:cNvPr id="3" name="Subtitle 2">
            <a:extLst>
              <a:ext uri="{FF2B5EF4-FFF2-40B4-BE49-F238E27FC236}">
                <a16:creationId xmlns:a16="http://schemas.microsoft.com/office/drawing/2014/main" id="{5181F609-AB03-B548-E01F-93E4D6B07DA9}"/>
              </a:ext>
            </a:extLst>
          </p:cNvPr>
          <p:cNvSpPr>
            <a:spLocks noGrp="1"/>
          </p:cNvSpPr>
          <p:nvPr>
            <p:ph type="subTitle" idx="1"/>
          </p:nvPr>
        </p:nvSpPr>
        <p:spPr>
          <a:xfrm>
            <a:off x="1645920" y="2926080"/>
            <a:ext cx="8961120" cy="2743200"/>
          </a:xfrm>
        </p:spPr>
        <p:style>
          <a:lnRef idx="2">
            <a:schemeClr val="dk1"/>
          </a:lnRef>
          <a:fillRef idx="1">
            <a:schemeClr val="lt1"/>
          </a:fillRef>
          <a:effectRef idx="0">
            <a:schemeClr val="dk1"/>
          </a:effectRef>
          <a:fontRef idx="minor">
            <a:schemeClr val="dk1"/>
          </a:fontRef>
        </p:style>
        <p:txBody>
          <a:bodyPr wrap="square">
            <a:normAutofit/>
          </a:bodyPr>
          <a:lstStyle/>
          <a:p>
            <a:pPr algn="l">
              <a:spcAft>
                <a:spcPts val="200"/>
              </a:spcAft>
              <a:defRPr b="1" sz="1800">
                <a:solidFill>
                  <a:srgbClr val="1F3864"/>
                </a:solidFill>
                <a:latin typeface="Calibri"/>
              </a:defRPr>
            </a:pPr>
            <a:r>
              <a:t>Project Title: AI-Driven Crisis Resource Intelligence &amp; Autonomous Logistics Platform</a:t>
            </a:r>
          </a:p>
          <a:p>
            <a:pPr>
              <a:spcAft>
                <a:spcPts val="200"/>
              </a:spcAft>
              <a:defRPr b="0" sz="600">
                <a:latin typeface="Calibri"/>
              </a:defRPr>
            </a:pPr>
          </a:p>
          <a:p>
            <a:pPr>
              <a:spcAft>
                <a:spcPts val="200"/>
              </a:spcAft>
              <a:defRPr b="1" sz="1600">
                <a:solidFill>
                  <a:srgbClr val="1E40AF"/>
                </a:solidFill>
                <a:latin typeface="Calibri"/>
              </a:defRPr>
            </a:pPr>
            <a:r>
              <a:t>Batch Number: AIML C24</a:t>
            </a:r>
          </a:p>
          <a:p>
            <a:pPr>
              <a:spcAft>
                <a:spcPts val="200"/>
              </a:spcAft>
              <a:defRPr b="1" sz="1500">
                <a:solidFill>
                  <a:srgbClr val="1E293B"/>
                </a:solidFill>
                <a:latin typeface="Calibri"/>
              </a:defRPr>
            </a:pPr>
            <a:r>
              <a:t>Guide Name: Mrs. UDHAYA J.M., M.E., Assistant Professor, Dept of AIML</a:t>
            </a:r>
          </a:p>
          <a:p>
            <a:pPr>
              <a:spcAft>
                <a:spcPts val="200"/>
              </a:spcAft>
              <a:defRPr b="0" sz="600">
                <a:latin typeface="Calibri"/>
              </a:defRPr>
            </a:pPr>
          </a:p>
          <a:p>
            <a:pPr>
              <a:spcAft>
                <a:spcPts val="200"/>
              </a:spcAft>
              <a:defRPr b="1" sz="1500">
                <a:solidFill>
                  <a:srgbClr val="1F3864"/>
                </a:solidFill>
                <a:latin typeface="Calibri"/>
              </a:defRPr>
            </a:pPr>
            <a:r>
              <a:t>Team Members:</a:t>
            </a:r>
          </a:p>
          <a:p>
            <a:pPr>
              <a:spcAft>
                <a:spcPts val="200"/>
              </a:spcAft>
              <a:defRPr b="0" sz="1450">
                <a:solidFill>
                  <a:srgbClr val="1E293B"/>
                </a:solidFill>
                <a:latin typeface="Calibri"/>
              </a:defRPr>
            </a:pPr>
            <a:r>
              <a:t>  • SAJITH AR  (Reg No: 211423247181)</a:t>
            </a:r>
          </a:p>
          <a:p>
            <a:pPr>
              <a:spcAft>
                <a:spcPts val="200"/>
              </a:spcAft>
              <a:defRPr b="0" sz="1450">
                <a:solidFill>
                  <a:srgbClr val="1E293B"/>
                </a:solidFill>
                <a:latin typeface="Calibri"/>
              </a:defRPr>
            </a:pPr>
            <a:r>
              <a:t>  • SARAN R   (Reg No: 211423247189)</a:t>
            </a:r>
          </a:p>
        </p:txBody>
      </p:sp>
      <p:sp>
        <p:nvSpPr>
          <p:cNvPr id="15" name="TextBox 14">
            <a:extLst>
              <a:ext uri="{FF2B5EF4-FFF2-40B4-BE49-F238E27FC236}">
                <a16:creationId xmlns:a16="http://schemas.microsoft.com/office/drawing/2014/main" id="{342667D2-B3D4-E017-0586-E80F57F7E3F7}"/>
              </a:ext>
            </a:extLst>
          </p:cNvPr>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bg1"/>
              </a:solidFill>
            </a:endParaRPr>
          </a:p>
        </p:txBody>
      </p:sp>
      <p:pic>
        <p:nvPicPr>
          <p:cNvPr id="6" name="Picture 5"/>
          <p:cNvPicPr>
            <a:picLocks noChangeAspect="1"/>
          </p:cNvPicPr>
          <p:nvPr/>
        </p:nvPicPr>
        <p:blipFill>
          <a:blip r:embed="rId2"/>
          <a:stretch>
            <a:fillRect/>
          </a:stretch>
        </p:blipFill>
        <p:spPr>
          <a:xfrm>
            <a:off x="444112" y="116347"/>
            <a:ext cx="2543175" cy="857250"/>
          </a:xfrm>
          <a:prstGeom prst="rect">
            <a:avLst/>
          </a:prstGeom>
        </p:spPr>
      </p:pic>
      <p:pic>
        <p:nvPicPr>
          <p:cNvPr id="4" name="Picture 3">
            <a:extLst>
              <a:ext uri="{FF2B5EF4-FFF2-40B4-BE49-F238E27FC236}">
                <a16:creationId xmlns:a16="http://schemas.microsoft.com/office/drawing/2014/main" id="{9CCD496A-C8C9-31ED-B583-8BA9F0D06255}"/>
              </a:ext>
            </a:extLst>
          </p:cNvPr>
          <p:cNvPicPr>
            <a:picLocks noChangeAspect="1"/>
          </p:cNvPicPr>
          <p:nvPr/>
        </p:nvPicPr>
        <p:blipFill>
          <a:blip r:embed="rId3"/>
          <a:stretch>
            <a:fillRect/>
          </a:stretch>
        </p:blipFill>
        <p:spPr>
          <a:xfrm>
            <a:off x="10389870" y="116347"/>
            <a:ext cx="1657350" cy="1600200"/>
          </a:xfrm>
          <a:prstGeom prst="rect">
            <a:avLst/>
          </a:prstGeom>
        </p:spPr>
      </p:pic>
    </p:spTree>
    <p:extLst>
      <p:ext uri="{BB962C8B-B14F-4D97-AF65-F5344CB8AC3E}">
        <p14:creationId xmlns:p14="http://schemas.microsoft.com/office/powerpoint/2010/main" val="483816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Abstract</a:t>
            </a:r>
          </a:p>
        </p:txBody>
      </p:sp>
      <p:sp>
        <p:nvSpPr>
          <p:cNvPr id="3" name="Content Placeholder 2"/>
          <p:cNvSpPr>
            <a:spLocks noGrp="1"/>
          </p:cNvSpPr>
          <p:nvPr>
            <p:ph idx="1"/>
          </p:nvPr>
        </p:nvSpPr>
        <p:spPr>
          <a:xfrm>
            <a:off x="822960" y="1371600"/>
            <a:ext cx="10515600" cy="4297680"/>
          </a:xfrm>
        </p:spPr>
        <p:txBody>
          <a:bodyPr wrap="square">
            <a:normAutofit/>
          </a:bodyPr>
          <a:lstStyle/>
          <a:p>
            <a:pPr>
              <a:spcBef>
                <a:spcPts val="0"/>
              </a:spcBef>
              <a:spcAft>
                <a:spcPts val="200"/>
              </a:spcAft>
              <a:buNone/>
              <a:defRPr b="1" sz="1600">
                <a:solidFill>
                  <a:srgbClr val="1F3864"/>
                </a:solidFill>
                <a:latin typeface="Calibri"/>
              </a:defRPr>
            </a:pPr>
            <a:r>
              <a:t>Chennai Flood Lab — Unified Crisis Simulation Platform</a:t>
            </a:r>
          </a:p>
          <a:p>
            <a:pPr>
              <a:spcAft>
                <a:spcPts val="400"/>
              </a:spcAft>
              <a:defRPr b="0" sz="1400">
                <a:solidFill>
                  <a:srgbClr val="1E293B"/>
                </a:solidFill>
                <a:latin typeface="Calibri"/>
              </a:defRPr>
            </a:pPr>
            <a:r>
              <a:t>During severe urban flooding events, rapid and equitable emergency resource distribution is vital to saving lives. Traditional disaster response relies on delayed field surveys, manual spreadsheet accounting, and static routing maps that ignore dynamic road submersions, leading to critical supply stockouts and vehicle stranding.</a:t>
            </a:r>
          </a:p>
          <a:p>
            <a:pPr>
              <a:spcBef>
                <a:spcPts val="600"/>
              </a:spcBef>
              <a:spcAft>
                <a:spcPts val="200"/>
              </a:spcAft>
              <a:defRPr b="1" sz="1600">
                <a:solidFill>
                  <a:srgbClr val="1F3864"/>
                </a:solidFill>
                <a:latin typeface="Calibri"/>
              </a:defRPr>
            </a:pPr>
            <a:r>
              <a:t>Dual Predictive Machine Learning Architecture</a:t>
            </a:r>
          </a:p>
          <a:p>
            <a:pPr>
              <a:spcAft>
                <a:spcPts val="400"/>
              </a:spcAft>
              <a:defRPr b="0" sz="1400">
                <a:solidFill>
                  <a:srgbClr val="1E293B"/>
                </a:solidFill>
                <a:latin typeface="Calibri"/>
              </a:defRPr>
            </a:pPr>
            <a:r>
              <a:t>This platform couples two AI pipelines: a 180-tree Gradient Boosted Decision Tree (GBDT) model trained on 9,131 daily NASA POWER reanalysis records predicting next-day elevated rainfall (&gt;=10 mm/day, 87.12% ROC-AUC), and a 128-tree Extra Trees + Ridge regression blend predicting per-capita emergency drinking water, food, and medical kit demand with up to 96.6% error reduction over heuristic rules.</a:t>
            </a:r>
          </a:p>
          <a:p>
            <a:pPr>
              <a:spcBef>
                <a:spcPts val="600"/>
              </a:spcBef>
              <a:spcAft>
                <a:spcPts val="200"/>
              </a:spcAft>
              <a:defRPr b="1" sz="1600">
                <a:solidFill>
                  <a:srgbClr val="1F3864"/>
                </a:solidFill>
                <a:latin typeface="Calibri"/>
              </a:defRPr>
            </a:pPr>
            <a:r>
              <a:t>Conformal Uncertainty &amp; Prescriptive Routing</a:t>
            </a:r>
          </a:p>
          <a:p>
            <a:pPr>
              <a:spcAft>
                <a:spcPts val="400"/>
              </a:spcAft>
              <a:defRPr b="0" sz="1400">
                <a:solidFill>
                  <a:srgbClr val="1E293B"/>
                </a:solidFill>
                <a:latin typeface="Calibri"/>
              </a:defRPr>
            </a:pPr>
            <a:r>
              <a:t>Split-conformal calibration guarantees finite-sample 90% confidence intervals for relief demand. NetworkX dynamically evaluates road network accessibility against water depth (0.50m evacuation, 0.30m logistics cutoff), while Google OR-Tools solves capacity-constrained shelter allocation and multi-commodity depot logistics. A high-performance Next.js 14 / Leaflet dashboard enables sub-second (&lt;0.45s) interactive scenario simulation, playback, and offline GCC ward exploration.</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1</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Motivation</a:t>
            </a:r>
          </a:p>
        </p:txBody>
      </p:sp>
      <p:sp>
        <p:nvSpPr>
          <p:cNvPr id="3" name="Content Placeholder 2"/>
          <p:cNvSpPr>
            <a:spLocks noGrp="1"/>
          </p:cNvSpPr>
          <p:nvPr>
            <p:ph idx="1"/>
          </p:nvPr>
        </p:nvSpPr>
        <p:spPr>
          <a:xfrm>
            <a:off x="822960" y="1371600"/>
            <a:ext cx="10515600" cy="4297680"/>
          </a:xfrm>
        </p:spPr>
        <p:txBody>
          <a:bodyPr wrap="square">
            <a:normAutofit/>
          </a:bodyPr>
          <a:lstStyle/>
          <a:p>
            <a:pPr>
              <a:spcBef>
                <a:spcPts val="0"/>
              </a:spcBef>
              <a:spcAft>
                <a:spcPts val="200"/>
              </a:spcAft>
              <a:buNone/>
              <a:defRPr b="1" sz="1600">
                <a:solidFill>
                  <a:srgbClr val="1F3864"/>
                </a:solidFill>
                <a:latin typeface="Calibri"/>
              </a:defRPr>
            </a:pPr>
            <a:r>
              <a:t>Increasing Severity of Urban Deluges</a:t>
            </a:r>
            <a:endParaRPr lang="en-US" dirty="0"/>
          </a:p>
          <a:p>
            <a:pPr>
              <a:spcAft>
                <a:spcPts val="400"/>
              </a:spcAft>
              <a:defRPr b="0" sz="1400">
                <a:solidFill>
                  <a:srgbClr val="1E293B"/>
                </a:solidFill>
                <a:latin typeface="Calibri"/>
              </a:defRPr>
            </a:pPr>
            <a:r>
              <a:t>Rapid urbanization and convective weather shifts have intensified extreme rainfall events across coastal metros like Chennai (2015 floods, 2023 Cyclone Michaung), completely overwhelming conventional municipal emergency infrastructure.</a:t>
            </a:r>
          </a:p>
          <a:p>
            <a:pPr>
              <a:spcBef>
                <a:spcPts val="600"/>
              </a:spcBef>
              <a:spcAft>
                <a:spcPts val="200"/>
              </a:spcAft>
              <a:defRPr b="1" sz="1600">
                <a:solidFill>
                  <a:srgbClr val="1F3864"/>
                </a:solidFill>
                <a:latin typeface="Calibri"/>
              </a:defRPr>
            </a:pPr>
            <a:r>
              <a:t>The Critical 'Reactive' Supply Chain Flaw</a:t>
            </a:r>
          </a:p>
          <a:p>
            <a:pPr>
              <a:spcAft>
                <a:spcPts val="400"/>
              </a:spcAft>
              <a:defRPr b="0" sz="1400">
                <a:solidFill>
                  <a:srgbClr val="1E293B"/>
                </a:solidFill>
                <a:latin typeface="Calibri"/>
              </a:defRPr>
            </a:pPr>
            <a:r>
              <a:t>Relief agencies historically dispatch emergency cargo only after local shortages are reported in panic calls, resulting in life-threatening delays in heavily inundated sectors.</a:t>
            </a:r>
          </a:p>
          <a:p>
            <a:pPr>
              <a:spcBef>
                <a:spcPts val="600"/>
              </a:spcBef>
              <a:spcAft>
                <a:spcPts val="200"/>
              </a:spcAft>
              <a:defRPr b="1" sz="1600">
                <a:solidFill>
                  <a:srgbClr val="1F3864"/>
                </a:solidFill>
                <a:latin typeface="Calibri"/>
              </a:defRPr>
            </a:pPr>
            <a:r>
              <a:t>Dynamic Infrastructure Volatility</a:t>
            </a:r>
          </a:p>
          <a:p>
            <a:pPr>
              <a:spcAft>
                <a:spcPts val="400"/>
              </a:spcAft>
              <a:defRPr b="0" sz="1400">
                <a:solidFill>
                  <a:srgbClr val="1E293B"/>
                </a:solidFill>
                <a:latin typeface="Calibri"/>
              </a:defRPr>
            </a:pPr>
            <a:r>
              <a:t>Surface roads and arterial bridges submerge unevenly during active monsoons. Standard navigation tools lack real-time hydrological depth awareness, leading to stranded rescue convoys.</a:t>
            </a:r>
          </a:p>
          <a:p>
            <a:pPr>
              <a:spcBef>
                <a:spcPts val="600"/>
              </a:spcBef>
              <a:spcAft>
                <a:spcPts val="200"/>
              </a:spcAft>
              <a:defRPr b="1" sz="1600">
                <a:solidFill>
                  <a:srgbClr val="1F3864"/>
                </a:solidFill>
                <a:latin typeface="Calibri"/>
              </a:defRPr>
            </a:pPr>
            <a:r>
              <a:t>Dispatcher Cognitive Overload in Resource Deficits</a:t>
            </a:r>
          </a:p>
          <a:p>
            <a:pPr>
              <a:spcAft>
                <a:spcPts val="400"/>
              </a:spcAft>
              <a:defRPr b="0" sz="1400">
                <a:solidFill>
                  <a:srgbClr val="1E293B"/>
                </a:solidFill>
                <a:latin typeface="Calibri"/>
              </a:defRPr>
            </a:pPr>
            <a:r>
              <a:t>In acute scarcity, human coordinators face high cognitive strain balancing population density, medical urgency, and geographic isolation across 200 GCC wards without mathematical optimization.</a:t>
            </a:r>
          </a:p>
          <a:p>
            <a:pPr>
              <a:spcBef>
                <a:spcPts val="600"/>
              </a:spcBef>
              <a:spcAft>
                <a:spcPts val="200"/>
              </a:spcAft>
              <a:defRPr b="1" sz="1600">
                <a:solidFill>
                  <a:srgbClr val="991B1B"/>
                </a:solidFill>
                <a:latin typeface="Calibri"/>
              </a:defRPr>
            </a:pPr>
            <a:r>
              <a:t>Why Existing Systems Fall Short</a:t>
            </a:r>
          </a:p>
          <a:p>
            <a:pPr>
              <a:spcAft>
                <a:spcPts val="400"/>
              </a:spcAft>
              <a:defRPr b="0" sz="1400">
                <a:solidFill>
                  <a:srgbClr val="1E293B"/>
                </a:solidFill>
                <a:latin typeface="Calibri"/>
              </a:defRPr>
            </a:pPr>
            <a:r>
              <a:t>Standalone flood engines lack logistics coupling, while logistics algorithms assume fully accessible transit networks. An integrated, uncertainty-aware framework is urgently needed.</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2</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35F42-82D3-0F31-6F94-70F0CEC54F97}"/>
              </a:ext>
            </a:extLst>
          </p:cNvPr>
          <p:cNvSpPr>
            <a:spLocks noGrp="1"/>
          </p:cNvSpPr>
          <p:nvPr>
            <p:ph type="title"/>
          </p:nvPr>
        </p:nvSpPr>
        <p:spPr>
          <a:xfrm>
            <a:off x="822960" y="365760"/>
            <a:ext cx="10515600" cy="822960"/>
          </a:xfrm>
        </p:spPr>
        <p:txBody>
          <a:bodyPr wrap="square">
            <a:normAutofit/>
          </a:bodyPr>
          <a:lstStyle/>
          <a:p>
            <a:pPr algn="l">
              <a:defRPr b="1" sz="3200">
                <a:solidFill>
                  <a:srgbClr val="1E3A8A"/>
                </a:solidFill>
                <a:latin typeface="Calibri"/>
              </a:defRPr>
            </a:pPr>
            <a:r>
              <a:t>Literature Survey</a:t>
            </a:r>
            <a:endParaRPr lang="en-IN" dirty="0"/>
          </a:p>
        </p:txBody>
      </p:sp>
      <p:sp>
        <p:nvSpPr>
          <p:cNvPr id="10" name="Footer Placeholder 8">
            <a:extLst>
              <a:ext uri="{FF2B5EF4-FFF2-40B4-BE49-F238E27FC236}">
                <a16:creationId xmlns:a16="http://schemas.microsoft.com/office/drawing/2014/main" id="{F9937F4C-33E0-0C3C-44A9-5B06D8E5B1FA}"/>
              </a:ext>
            </a:extLst>
          </p:cNvPr>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3</a:t>
            </a:r>
            <a:endParaRPr lang="en-IN" sz="1500" dirty="0">
              <a:solidFill>
                <a:schemeClr val="tx2">
                  <a:lumMod val="10000"/>
                </a:schemeClr>
              </a:solidFill>
            </a:endParaRPr>
          </a:p>
        </p:txBody>
      </p:sp>
      <p:sp>
        <p:nvSpPr>
          <p:cNvPr id="11" name="TextBox 10">
            <a:extLst>
              <a:ext uri="{FF2B5EF4-FFF2-40B4-BE49-F238E27FC236}">
                <a16:creationId xmlns:a16="http://schemas.microsoft.com/office/drawing/2014/main" id="{C4A34F6A-6555-8FED-F8A0-00B8988585DD}"/>
              </a:ext>
            </a:extLst>
          </p:cNvPr>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pic>
        <p:nvPicPr>
          <p:cNvPr id="12" name="Picture 11" descr="lit_survey_1.png"/>
          <p:cNvPicPr>
            <a:picLocks noChangeAspect="1"/>
          </p:cNvPicPr>
          <p:nvPr/>
        </p:nvPicPr>
        <p:blipFill>
          <a:blip r:embed="rId3"/>
          <a:stretch>
            <a:fillRect/>
          </a:stretch>
        </p:blipFill>
        <p:spPr>
          <a:xfrm>
            <a:off x="731520" y="1280160"/>
            <a:ext cx="10698480" cy="4297680"/>
          </a:xfrm>
          <a:prstGeom prst="rect">
            <a:avLst/>
          </a:prstGeom>
        </p:spPr>
      </p:pic>
    </p:spTree>
    <p:extLst>
      <p:ext uri="{BB962C8B-B14F-4D97-AF65-F5344CB8AC3E}">
        <p14:creationId xmlns:p14="http://schemas.microsoft.com/office/powerpoint/2010/main" val="1667502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299B7-1959-E65F-3489-8154FA1C4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FF349-D54F-CC37-4EDA-7015E26745D8}"/>
              </a:ext>
            </a:extLst>
          </p:cNvPr>
          <p:cNvSpPr>
            <a:spLocks noGrp="1"/>
          </p:cNvSpPr>
          <p:nvPr>
            <p:ph type="title"/>
          </p:nvPr>
        </p:nvSpPr>
        <p:spPr>
          <a:xfrm>
            <a:off x="822960" y="365760"/>
            <a:ext cx="10515600" cy="822960"/>
          </a:xfrm>
        </p:spPr>
        <p:txBody>
          <a:bodyPr wrap="square">
            <a:normAutofit/>
          </a:bodyPr>
          <a:lstStyle/>
          <a:p>
            <a:pPr algn="l">
              <a:defRPr b="1" sz="3200">
                <a:solidFill>
                  <a:srgbClr val="1E3A8A"/>
                </a:solidFill>
                <a:latin typeface="Calibri"/>
              </a:defRPr>
            </a:pPr>
            <a:r>
              <a:t>Literature Survey (Cont.)</a:t>
            </a:r>
            <a:endParaRPr lang="en-IN" dirty="0"/>
          </a:p>
        </p:txBody>
      </p:sp>
      <p:sp>
        <p:nvSpPr>
          <p:cNvPr id="10" name="Footer Placeholder 8">
            <a:extLst>
              <a:ext uri="{FF2B5EF4-FFF2-40B4-BE49-F238E27FC236}">
                <a16:creationId xmlns:a16="http://schemas.microsoft.com/office/drawing/2014/main" id="{222BC434-C261-56D2-C379-293CB07096C2}"/>
              </a:ext>
            </a:extLst>
          </p:cNvPr>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4</a:t>
            </a:r>
            <a:endParaRPr lang="en-IN" sz="1500" dirty="0">
              <a:solidFill>
                <a:schemeClr val="tx2">
                  <a:lumMod val="10000"/>
                </a:schemeClr>
              </a:solidFill>
            </a:endParaRPr>
          </a:p>
        </p:txBody>
      </p:sp>
      <p:sp>
        <p:nvSpPr>
          <p:cNvPr id="11" name="TextBox 10">
            <a:extLst>
              <a:ext uri="{FF2B5EF4-FFF2-40B4-BE49-F238E27FC236}">
                <a16:creationId xmlns:a16="http://schemas.microsoft.com/office/drawing/2014/main" id="{A6DD30DF-A87D-BB7C-9596-B33FC986095A}"/>
              </a:ext>
            </a:extLst>
          </p:cNvPr>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pic>
        <p:nvPicPr>
          <p:cNvPr id="12" name="Picture 11" descr="lit_survey_2.png"/>
          <p:cNvPicPr>
            <a:picLocks noChangeAspect="1"/>
          </p:cNvPicPr>
          <p:nvPr/>
        </p:nvPicPr>
        <p:blipFill>
          <a:blip r:embed="rId4"/>
          <a:stretch>
            <a:fillRect/>
          </a:stretch>
        </p:blipFill>
        <p:spPr>
          <a:xfrm>
            <a:off x="731520" y="1280160"/>
            <a:ext cx="10698480" cy="4297680"/>
          </a:xfrm>
          <a:prstGeom prst="rect">
            <a:avLst/>
          </a:prstGeom>
        </p:spPr>
      </p:pic>
    </p:spTree>
    <p:extLst>
      <p:ext uri="{BB962C8B-B14F-4D97-AF65-F5344CB8AC3E}">
        <p14:creationId xmlns:p14="http://schemas.microsoft.com/office/powerpoint/2010/main" val="2110889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Disadvantages of Existing System</a:t>
            </a:r>
          </a:p>
        </p:txBody>
      </p:sp>
      <p:sp>
        <p:nvSpPr>
          <p:cNvPr id="3" name="Content Placeholder 2"/>
          <p:cNvSpPr>
            <a:spLocks noGrp="1"/>
          </p:cNvSpPr>
          <p:nvPr>
            <p:ph idx="1"/>
          </p:nvPr>
        </p:nvSpPr>
        <p:spPr>
          <a:xfrm>
            <a:off x="822960" y="1371600"/>
            <a:ext cx="10515600" cy="4297680"/>
          </a:xfrm>
        </p:spPr>
        <p:txBody>
          <a:bodyPr wrap="square">
            <a:normAutofit/>
          </a:bodyPr>
          <a:lstStyle/>
          <a:p>
            <a:pPr>
              <a:spcBef>
                <a:spcPts val="0"/>
              </a:spcBef>
              <a:spcAft>
                <a:spcPts val="200"/>
              </a:spcAft>
              <a:buNone/>
              <a:defRPr b="1" sz="1600">
                <a:solidFill>
                  <a:srgbClr val="991B1B"/>
                </a:solidFill>
                <a:latin typeface="Calibri"/>
              </a:defRPr>
            </a:pPr>
            <a:r>
              <a:t>Manual Data Processing Bottlenecks</a:t>
            </a:r>
          </a:p>
          <a:p>
            <a:pPr>
              <a:spcAft>
                <a:spcPts val="400"/>
              </a:spcAft>
              <a:defRPr b="0" sz="1400">
                <a:solidFill>
                  <a:srgbClr val="1E293B"/>
                </a:solidFill>
                <a:latin typeface="Calibri"/>
              </a:defRPr>
            </a:pPr>
            <a:r>
              <a:t>Relying on human dispatchers to manually log damage reports and update spreadsheets causes critical multi-hour lags during fast-moving flood surges.</a:t>
            </a:r>
          </a:p>
          <a:p>
            <a:pPr>
              <a:spcBef>
                <a:spcPts val="600"/>
              </a:spcBef>
              <a:spcAft>
                <a:spcPts val="200"/>
              </a:spcAft>
              <a:defRPr b="1" sz="1600">
                <a:solidFill>
                  <a:srgbClr val="991B1B"/>
                </a:solidFill>
                <a:latin typeface="Calibri"/>
              </a:defRPr>
            </a:pPr>
            <a:r>
              <a:t>Purely Reactive Inventory Tracking</a:t>
            </a:r>
          </a:p>
          <a:p>
            <a:pPr>
              <a:spcAft>
                <a:spcPts val="400"/>
              </a:spcAft>
              <a:defRPr b="0" sz="1400">
                <a:solidFill>
                  <a:srgbClr val="1E293B"/>
                </a:solidFill>
                <a:latin typeface="Calibri"/>
              </a:defRPr>
            </a:pPr>
            <a:r>
              <a:t>Existing emergency platforms track static depot inventory and only alert coordinators after shortages occur, precluding proactive supply pre-positioning.</a:t>
            </a:r>
          </a:p>
          <a:p>
            <a:pPr>
              <a:spcBef>
                <a:spcPts val="600"/>
              </a:spcBef>
              <a:spcAft>
                <a:spcPts val="200"/>
              </a:spcAft>
              <a:defRPr b="1" sz="1600">
                <a:solidFill>
                  <a:srgbClr val="991B1B"/>
                </a:solidFill>
                <a:latin typeface="Calibri"/>
              </a:defRPr>
            </a:pPr>
            <a:r>
              <a:t>Suboptimal &amp; Biased Resource Allocation</a:t>
            </a:r>
          </a:p>
          <a:p>
            <a:pPr>
              <a:spcAft>
                <a:spcPts val="400"/>
              </a:spcAft>
              <a:defRPr b="0" sz="1400">
                <a:solidFill>
                  <a:srgbClr val="1E293B"/>
                </a:solidFill>
                <a:latin typeface="Calibri"/>
              </a:defRPr>
            </a:pPr>
            <a:r>
              <a:t>When critical supplies are scarce, manual distribution fails to mathematically optimize priority coverage across shelters, resulting in severe regional inequities.</a:t>
            </a:r>
          </a:p>
          <a:p>
            <a:pPr>
              <a:spcBef>
                <a:spcPts val="600"/>
              </a:spcBef>
              <a:spcAft>
                <a:spcPts val="200"/>
              </a:spcAft>
              <a:defRPr b="1" sz="1600">
                <a:solidFill>
                  <a:srgbClr val="991B1B"/>
                </a:solidFill>
                <a:latin typeface="Calibri"/>
              </a:defRPr>
            </a:pPr>
            <a:r>
              <a:t>Static GIS Mapping &amp; Ignored Road Submersion</a:t>
            </a:r>
          </a:p>
          <a:p>
            <a:pPr>
              <a:spcAft>
                <a:spcPts val="400"/>
              </a:spcAft>
              <a:defRPr b="0" sz="1400">
                <a:solidFill>
                  <a:srgbClr val="1E293B"/>
                </a:solidFill>
                <a:latin typeface="Calibri"/>
              </a:defRPr>
            </a:pPr>
            <a:r>
              <a:t>Standard navigation tools assume roads are passable until user accidents occur, leading delivery trucks into submerged arterial bottlenecks (&gt;=0.30m depth).</a:t>
            </a:r>
          </a:p>
          <a:p>
            <a:pPr>
              <a:spcBef>
                <a:spcPts val="600"/>
              </a:spcBef>
              <a:spcAft>
                <a:spcPts val="200"/>
              </a:spcAft>
              <a:defRPr b="1" sz="1600">
                <a:solidFill>
                  <a:srgbClr val="991B1B"/>
                </a:solidFill>
                <a:latin typeface="Calibri"/>
              </a:defRPr>
            </a:pPr>
            <a:r>
              <a:t>Isolated Monolithic Systems &amp; Lack of Uncertainty Bounds</a:t>
            </a:r>
          </a:p>
          <a:p>
            <a:pPr>
              <a:spcAft>
                <a:spcPts val="400"/>
              </a:spcAft>
              <a:defRPr b="0" sz="1400">
                <a:solidFill>
                  <a:srgbClr val="1E293B"/>
                </a:solidFill>
                <a:latin typeface="Calibri"/>
              </a:defRPr>
            </a:pPr>
            <a:r>
              <a:t>Point-prediction ML tools fail to provide confidence intervals, leaving emergency planners without statistical safety buffers for worst-case surges.</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5</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Proposed System</a:t>
            </a:r>
          </a:p>
        </p:txBody>
      </p:sp>
      <p:sp>
        <p:nvSpPr>
          <p:cNvPr id="3" name="Content Placeholder 2"/>
          <p:cNvSpPr>
            <a:spLocks noGrp="1"/>
          </p:cNvSpPr>
          <p:nvPr>
            <p:ph idx="1"/>
          </p:nvPr>
        </p:nvSpPr>
        <p:spPr>
          <a:xfrm>
            <a:off x="822960" y="1371600"/>
            <a:ext cx="10515600" cy="4297680"/>
          </a:xfrm>
        </p:spPr>
        <p:txBody>
          <a:bodyPr wrap="square">
            <a:normAutofit/>
          </a:bodyPr>
          <a:lstStyle/>
          <a:p>
            <a:pPr>
              <a:spcBef>
                <a:spcPts val="0"/>
              </a:spcBef>
              <a:spcAft>
                <a:spcPts val="200"/>
              </a:spcAft>
              <a:buNone/>
              <a:defRPr b="1" sz="1600">
                <a:solidFill>
                  <a:srgbClr val="1F3864"/>
                </a:solidFill>
                <a:latin typeface="Calibri"/>
              </a:defRPr>
            </a:pPr>
            <a:r>
              <a:t>Spatio-Temporal Inundation Dynamics</a:t>
            </a:r>
            <a:endParaRPr lang="en-US" dirty="0"/>
          </a:p>
          <a:p>
            <a:pPr>
              <a:spcAft>
                <a:spcPts val="400"/>
              </a:spcAft>
              <a:defRPr b="0" sz="1400">
                <a:solidFill>
                  <a:srgbClr val="1E293B"/>
                </a:solidFill>
                <a:latin typeface="Calibri"/>
              </a:defRPr>
            </a:pPr>
            <a:r>
              <a:t>Simulates continuous flood spread and water depth decay across discrete time steps (t=0..T) with depth thresholds (0.50m evacuation, 0.30m logistics).</a:t>
            </a:r>
          </a:p>
          <a:p>
            <a:pPr>
              <a:spcBef>
                <a:spcPts val="600"/>
              </a:spcBef>
              <a:spcAft>
                <a:spcPts val="200"/>
              </a:spcAft>
              <a:defRPr b="1" sz="1600">
                <a:solidFill>
                  <a:srgbClr val="1F3864"/>
                </a:solidFill>
                <a:latin typeface="Calibri"/>
              </a:defRPr>
            </a:pPr>
            <a:r>
              <a:t>Dual Predictive AI Engine</a:t>
            </a:r>
          </a:p>
          <a:p>
            <a:pPr>
              <a:spcAft>
                <a:spcPts val="400"/>
              </a:spcAft>
              <a:defRPr b="0" sz="1400">
                <a:solidFill>
                  <a:srgbClr val="1E293B"/>
                </a:solidFill>
                <a:latin typeface="Calibri"/>
              </a:defRPr>
            </a:pPr>
            <a:r>
              <a:t>A 180-tree GBDT model predicts next-day heavy rainfall from NASA POWER reanalysis (87.12% AUC), and a 128-tree Extra Trees/Ridge ensemble predicts per-person relief demands.</a:t>
            </a:r>
          </a:p>
          <a:p>
            <a:pPr>
              <a:spcBef>
                <a:spcPts val="600"/>
              </a:spcBef>
              <a:spcAft>
                <a:spcPts val="200"/>
              </a:spcAft>
              <a:defRPr b="1" sz="1600">
                <a:solidFill>
                  <a:srgbClr val="1F3864"/>
                </a:solidFill>
                <a:latin typeface="Calibri"/>
              </a:defRPr>
            </a:pPr>
            <a:r>
              <a:t>Split-Conformal Uncertainty Calibration</a:t>
            </a:r>
          </a:p>
          <a:p>
            <a:pPr>
              <a:spcAft>
                <a:spcPts val="400"/>
              </a:spcAft>
              <a:defRPr b="0" sz="1400">
                <a:solidFill>
                  <a:srgbClr val="1E293B"/>
                </a:solidFill>
                <a:latin typeface="Calibri"/>
              </a:defRPr>
            </a:pPr>
            <a:r>
              <a:t>Distribution-free finite-sample conformal calibration generates verified 90% confidence intervals for water, food, and medical kit demand.</a:t>
            </a:r>
          </a:p>
          <a:p>
            <a:pPr>
              <a:spcBef>
                <a:spcPts val="600"/>
              </a:spcBef>
              <a:spcAft>
                <a:spcPts val="200"/>
              </a:spcAft>
              <a:defRPr b="1" sz="1600">
                <a:solidFill>
                  <a:srgbClr val="1F3864"/>
                </a:solidFill>
                <a:latin typeface="Calibri"/>
              </a:defRPr>
            </a:pPr>
            <a:r>
              <a:t>Mathematical Linear Programming Allocation</a:t>
            </a:r>
          </a:p>
          <a:p>
            <a:pPr>
              <a:spcAft>
                <a:spcPts val="400"/>
              </a:spcAft>
              <a:defRPr b="0" sz="1400">
                <a:solidFill>
                  <a:srgbClr val="1E293B"/>
                </a:solidFill>
                <a:latin typeface="Calibri"/>
              </a:defRPr>
            </a:pPr>
            <a:r>
              <a:t>Google OR-Tools GLOP optimizer guarantees equitable, capacity-constrained shelter assignments and depot stock conservation with transaction rollback.</a:t>
            </a:r>
          </a:p>
          <a:p>
            <a:pPr>
              <a:spcBef>
                <a:spcPts val="600"/>
              </a:spcBef>
              <a:spcAft>
                <a:spcPts val="200"/>
              </a:spcAft>
              <a:defRPr b="1" sz="1600">
                <a:solidFill>
                  <a:srgbClr val="1F3864"/>
                </a:solidFill>
                <a:latin typeface="Calibri"/>
              </a:defRPr>
            </a:pPr>
            <a:r>
              <a:t>Dynamic Flood-Avoidance Routing &amp; Dedicated Fleet Dispatch</a:t>
            </a:r>
          </a:p>
          <a:p>
            <a:pPr>
              <a:spcAft>
                <a:spcPts val="400"/>
              </a:spcAft>
              <a:defRPr b="0" sz="1400">
                <a:solidFill>
                  <a:srgbClr val="1E293B"/>
                </a:solidFill>
                <a:latin typeface="Calibri"/>
              </a:defRPr>
            </a:pPr>
            <a:r>
              <a:t>NetworkX dynamically updates Chennai OSM road graph weights, calculating safe A*/Dijkstra paths and coordinating dedicated truck, boat, and airlift fleets.</a:t>
            </a:r>
          </a:p>
          <a:p>
            <a:pPr>
              <a:spcBef>
                <a:spcPts val="600"/>
              </a:spcBef>
              <a:spcAft>
                <a:spcPts val="200"/>
              </a:spcAft>
              <a:defRPr b="1" sz="1600">
                <a:solidFill>
                  <a:srgbClr val="1F3864"/>
                </a:solidFill>
                <a:latin typeface="Calibri"/>
              </a:defRPr>
            </a:pPr>
            <a:r>
              <a:t>Full-Stack Next.js 14 Interactive Dashboard</a:t>
            </a:r>
          </a:p>
          <a:p>
            <a:pPr>
              <a:spcAft>
                <a:spcPts val="400"/>
              </a:spcAft>
              <a:defRPr b="0" sz="1400">
                <a:solidFill>
                  <a:srgbClr val="1E293B"/>
                </a:solidFill>
                <a:latin typeface="Calibri"/>
              </a:defRPr>
            </a:pPr>
            <a:r>
              <a:t>Enables real-time scenario simulation (&lt;0.45s), timeline playback, bilingual Tamil/English bulletins, 200-ward GCC atlas, and HTML report export.</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6</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Goal &amp; Key Objectives</a:t>
            </a:r>
          </a:p>
        </p:txBody>
      </p:sp>
      <p:sp>
        <p:nvSpPr>
          <p:cNvPr id="3" name="Content Placeholder 2"/>
          <p:cNvSpPr>
            <a:spLocks noGrp="1"/>
          </p:cNvSpPr>
          <p:nvPr>
            <p:ph idx="1"/>
          </p:nvPr>
        </p:nvSpPr>
        <p:spPr>
          <a:xfrm>
            <a:off x="822960" y="1371600"/>
            <a:ext cx="10515600" cy="4297680"/>
          </a:xfrm>
        </p:spPr>
        <p:txBody>
          <a:bodyPr wrap="square">
            <a:normAutofit lnSpcReduction="10000"/>
          </a:bodyPr>
          <a:lstStyle/>
          <a:p>
            <a:pPr>
              <a:spcBef>
                <a:spcPts val="0"/>
              </a:spcBef>
              <a:spcAft>
                <a:spcPts val="200"/>
              </a:spcAft>
              <a:buNone/>
              <a:defRPr b="1" sz="1600">
                <a:solidFill>
                  <a:srgbClr val="1F3864"/>
                </a:solidFill>
                <a:latin typeface="Calibri"/>
              </a:defRPr>
            </a:pPr>
            <a:r>
              <a:t>Primary Goal</a:t>
            </a:r>
            <a:endParaRPr lang="en-US" dirty="0"/>
          </a:p>
          <a:p>
            <a:pPr>
              <a:spcAft>
                <a:spcPts val="400"/>
              </a:spcAft>
              <a:defRPr b="0" sz="1400">
                <a:solidFill>
                  <a:srgbClr val="1E293B"/>
                </a:solidFill>
                <a:latin typeface="Calibri"/>
              </a:defRPr>
            </a:pPr>
            <a:r>
              <a:t>To design, develop, and evaluate an autonomous full-stack crisis simulation and resource optimization platform that couples predictive machine learning, conformal uncertainty quantification, and dynamic network routing for resilient flood response.</a:t>
            </a:r>
          </a:p>
          <a:p>
            <a:pPr>
              <a:spcBef>
                <a:spcPts val="600"/>
              </a:spcBef>
              <a:spcAft>
                <a:spcPts val="200"/>
              </a:spcAft>
              <a:defRPr b="1" sz="1600">
                <a:solidFill>
                  <a:srgbClr val="1F3864"/>
                </a:solidFill>
                <a:latin typeface="Calibri"/>
              </a:defRPr>
            </a:pPr>
            <a:r>
              <a:t>Meteorological Hazard Classification (Objective 1)</a:t>
            </a:r>
          </a:p>
          <a:p>
            <a:pPr>
              <a:spcAft>
                <a:spcPts val="400"/>
              </a:spcAft>
              <a:defRPr b="0" sz="1400">
                <a:solidFill>
                  <a:srgbClr val="1E293B"/>
                </a:solidFill>
                <a:latin typeface="Calibri"/>
              </a:defRPr>
            </a:pPr>
            <a:r>
              <a:t>Train and evaluate a 180-Tree GBDT weather model on 9,131 days of NASA POWER data (Achieved: 87.12% ROC-AUC, 80.36% Recall).</a:t>
            </a:r>
          </a:p>
          <a:p>
            <a:pPr>
              <a:spcBef>
                <a:spcPts val="600"/>
              </a:spcBef>
              <a:spcAft>
                <a:spcPts val="200"/>
              </a:spcAft>
              <a:defRPr b="1" sz="1600">
                <a:solidFill>
                  <a:srgbClr val="1F3864"/>
                </a:solidFill>
                <a:latin typeface="Calibri"/>
              </a:defRPr>
            </a:pPr>
            <a:r>
              <a:t>Predictive Demand Modeling &amp; Uncertainty (Objective 2 &amp; 3)</a:t>
            </a:r>
          </a:p>
          <a:p>
            <a:pPr>
              <a:spcAft>
                <a:spcPts val="400"/>
              </a:spcAft>
              <a:defRPr b="0" sz="1400">
                <a:solidFill>
                  <a:srgbClr val="1E293B"/>
                </a:solidFill>
                <a:latin typeface="Calibri"/>
              </a:defRPr>
            </a:pPr>
            <a:r>
              <a:t>Build a 128-Tree Extra Trees + Ridge ensemble reducing relief demand MAE by 88.1% to 96.6% over rule baselines, backed by verified 90% split-conformal coverage.</a:t>
            </a:r>
          </a:p>
          <a:p>
            <a:pPr>
              <a:spcBef>
                <a:spcPts val="600"/>
              </a:spcBef>
              <a:spcAft>
                <a:spcPts val="200"/>
              </a:spcAft>
              <a:defRPr b="1" sz="1600">
                <a:solidFill>
                  <a:srgbClr val="1F3864"/>
                </a:solidFill>
                <a:latin typeface="Calibri"/>
              </a:defRPr>
            </a:pPr>
            <a:r>
              <a:t>Dynamic Inundation Routing &amp; Optimization (Objective 4 &amp; 5)</a:t>
            </a:r>
          </a:p>
          <a:p>
            <a:pPr>
              <a:spcAft>
                <a:spcPts val="400"/>
              </a:spcAft>
              <a:defRPr b="0" sz="1400">
                <a:solidFill>
                  <a:srgbClr val="1E293B"/>
                </a:solidFill>
                <a:latin typeface="Calibri"/>
              </a:defRPr>
            </a:pPr>
            <a:r>
              <a:t>Dynamically screen Chennai OSM road graph in NetworkX (evacuation cutoff 0.50m, truck cutoff 0.30m) and deploy Google OR-Tools GLOP for equitable allocation.</a:t>
            </a:r>
          </a:p>
          <a:p>
            <a:pPr>
              <a:spcBef>
                <a:spcPts val="600"/>
              </a:spcBef>
              <a:spcAft>
                <a:spcPts val="200"/>
              </a:spcAft>
              <a:defRPr b="1" sz="1600">
                <a:solidFill>
                  <a:srgbClr val="991B1B"/>
                </a:solidFill>
                <a:latin typeface="Calibri"/>
              </a:defRPr>
            </a:pPr>
            <a:r>
              <a:t>Live Interactive Demonstration Metric</a:t>
            </a:r>
          </a:p>
          <a:p>
            <a:pPr>
              <a:spcAft>
                <a:spcPts val="400"/>
              </a:spcAft>
              <a:defRPr b="0" sz="1400">
                <a:solidFill>
                  <a:srgbClr val="1E293B"/>
                </a:solidFill>
                <a:latin typeface="Calibri"/>
              </a:defRPr>
            </a:pPr>
            <a:r>
              <a:t>Success Metric: Examiner can interact live with the dashboard—draw flood polygons or select presets—and view verified routing, shelter allocation, and demand intervals in &lt;0.45 seconds.</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7</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Architectural Diagram</a:t>
            </a:r>
          </a:p>
        </p:txBody>
      </p:sp>
      <p:sp>
        <p:nvSpPr>
          <p:cNvPr id="3" name="Content Placeholder 2"/>
          <p:cNvSpPr>
            <a:spLocks noGrp="1"/>
          </p:cNvSpPr>
          <p:nvPr>
            <p:ph idx="1"/>
          </p:nvPr>
        </p:nvSpPr>
        <p:spPr>
          <a:xfrm>
            <a:off x="822960" y="1371600"/>
            <a:ext cx="10515600" cy="4297680"/>
          </a:xfrm>
        </p:spPr>
        <p:txBody>
          <a:bodyPr wrap="square"/>
          <a:lstStyle/>
          <a:p>
            <a:pPr>
              <a:spcBef>
                <a:spcPts val="0"/>
              </a:spcBef>
              <a:spcAft>
                <a:spcPts val="200"/>
              </a:spcAft>
              <a:buNone/>
              <a:defRPr b="1" sz="1600">
                <a:solidFill>
                  <a:srgbClr val="1F3864"/>
                </a:solidFill>
                <a:latin typeface="Calibri"/>
              </a:defRPr>
            </a:pPr>
            <a:r>
              <a:t>Layer 1 &amp; 2 — Input &amp; Spatial Data Ingestion</a:t>
            </a:r>
          </a:p>
          <a:p>
            <a:pPr>
              <a:spcAft>
                <a:spcPts val="400"/>
              </a:spcAft>
              <a:defRPr b="0" sz="1400">
                <a:solidFill>
                  <a:srgbClr val="1E293B"/>
                </a:solidFill>
                <a:latin typeface="Calibri"/>
              </a:defRPr>
            </a:pPr>
            <a:r>
              <a:t>Interactive flood polygon drawing, circle radius (500–5000m), disaster presets (Velachery, Adyar, Mudichur, T. Nagar), bundled 200 GCC Wards, OSM arterial road graph, 12 shelters, and 5 depots.</a:t>
            </a:r>
          </a:p>
          <a:p>
            <a:pPr>
              <a:spcBef>
                <a:spcPts val="600"/>
              </a:spcBef>
              <a:spcAft>
                <a:spcPts val="200"/>
              </a:spcAft>
              <a:defRPr b="1" sz="1600">
                <a:solidFill>
                  <a:srgbClr val="1F3864"/>
                </a:solidFill>
                <a:latin typeface="Calibri"/>
              </a:defRPr>
            </a:pPr>
            <a:r>
              <a:t>Layer 3 &amp; 4 — Inundation Dynamics &amp; Graph Screening</a:t>
            </a:r>
          </a:p>
          <a:p>
            <a:pPr>
              <a:spcAft>
                <a:spcPts val="400"/>
              </a:spcAft>
              <a:defRPr b="0" sz="1400">
                <a:solidFill>
                  <a:srgbClr val="1E293B"/>
                </a:solidFill>
                <a:latin typeface="Calibri"/>
              </a:defRPr>
            </a:pPr>
            <a:r>
              <a:t>Computes continuous flood spread and water depth decay across time steps t=0..T; dynamically calculates edge impedance and severs impassable corridors in NetworkX (0.50m evacuation, 0.30m trucks).</a:t>
            </a:r>
          </a:p>
          <a:p>
            <a:pPr>
              <a:spcBef>
                <a:spcPts val="600"/>
              </a:spcBef>
              <a:spcAft>
                <a:spcPts val="200"/>
              </a:spcAft>
              <a:defRPr b="1" sz="1600">
                <a:solidFill>
                  <a:srgbClr val="1F3864"/>
                </a:solidFill>
                <a:latin typeface="Calibri"/>
              </a:defRPr>
            </a:pPr>
            <a:r>
              <a:t>Layer 5 &amp; 6 — Dual Predictive AI &amp; Optimization</a:t>
            </a:r>
          </a:p>
          <a:p>
            <a:pPr>
              <a:spcAft>
                <a:spcPts val="400"/>
              </a:spcAft>
              <a:defRPr b="0" sz="1400">
                <a:solidFill>
                  <a:srgbClr val="1E293B"/>
                </a:solidFill>
                <a:latin typeface="Calibri"/>
              </a:defRPr>
            </a:pPr>
            <a:r>
              <a:t>NASA POWER 180-tree rainfall classifier + 128-tree Extra Trees/Ridge demand forecaster, nominal 90% conformal intervals, and Google OR-Tools GLOP capacity-constrained optimization.</a:t>
            </a:r>
          </a:p>
          <a:p>
            <a:pPr>
              <a:spcBef>
                <a:spcPts val="600"/>
              </a:spcBef>
              <a:spcAft>
                <a:spcPts val="200"/>
              </a:spcAft>
              <a:defRPr b="1" sz="1600">
                <a:solidFill>
                  <a:srgbClr val="1F3864"/>
                </a:solidFill>
                <a:latin typeface="Calibri"/>
              </a:defRPr>
            </a:pPr>
            <a:r>
              <a:t>Layer 7 — Full-Stack Command Center &amp; Fleet Routing</a:t>
            </a:r>
          </a:p>
          <a:p>
            <a:pPr>
              <a:spcAft>
                <a:spcPts val="400"/>
              </a:spcAft>
              <a:defRPr b="0" sz="1400">
                <a:solidFill>
                  <a:srgbClr val="1E293B"/>
                </a:solidFill>
                <a:latin typeface="Calibri"/>
              </a:defRPr>
            </a:pPr>
            <a:r>
              <a:t>Safe evacuation shortest paths, dedicated rescue fleet dispatch (trucks, boats, helicopters), bilingual Tamil/English alerts, and Next.js Leaflet dashboard.</a:t>
            </a:r>
          </a:p>
          <a:p>
            <a:pPr>
              <a:spcBef>
                <a:spcPts val="600"/>
              </a:spcBef>
              <a:spcAft>
                <a:spcPts val="200"/>
              </a:spcAft>
              <a:defRPr b="1" sz="1600">
                <a:solidFill>
                  <a:srgbClr val="991B1B"/>
                </a:solidFill>
                <a:latin typeface="Calibri"/>
              </a:defRPr>
            </a:pPr>
            <a:r>
              <a:t>Key Design Insight</a:t>
            </a:r>
          </a:p>
          <a:p>
            <a:pPr>
              <a:spcAft>
                <a:spcPts val="400"/>
              </a:spcAft>
              <a:defRPr b="0" sz="1400">
                <a:solidFill>
                  <a:srgbClr val="1E293B"/>
                </a:solidFill>
                <a:latin typeface="Calibri"/>
              </a:defRPr>
            </a:pPr>
            <a:r>
              <a:t>Combining predictive weather classification with dynamic graph impedance and mathematical resource optimization provides guaranteed stock conservation and flood-free transit.</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8</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78652-565B-A494-C70D-9B7AFF0C6CBF}"/>
            </a:ext>
          </a:extLst>
        </p:cNvPr>
        <p:cNvGrpSpPr/>
        <p:nvPr/>
      </p:nvGrpSpPr>
      <p:grpSpPr>
        <a:xfrm>
          <a:off x="0" y="0"/>
          <a:ext cx="0" cy="0"/>
          <a:chOff x="0" y="0"/>
          <a:chExt cx="0" cy="0"/>
        </a:xfrm>
      </p:grpSpPr>
      <p:sp>
        <p:nvSpPr>
          <p:cNvPr id="12" name="Footer Placeholder 8">
            <a:extLst>
              <a:ext uri="{FF2B5EF4-FFF2-40B4-BE49-F238E27FC236}">
                <a16:creationId xmlns:a16="http://schemas.microsoft.com/office/drawing/2014/main" id="{6C89AC68-E3D6-2FFA-938B-AFA3B6CF1F6D}"/>
              </a:ext>
            </a:extLst>
          </p:cNvPr>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9</a:t>
            </a:r>
          </a:p>
        </p:txBody>
      </p:sp>
      <p:sp>
        <p:nvSpPr>
          <p:cNvPr id="13" name="TextBox 12">
            <a:extLst>
              <a:ext uri="{FF2B5EF4-FFF2-40B4-BE49-F238E27FC236}">
                <a16:creationId xmlns:a16="http://schemas.microsoft.com/office/drawing/2014/main" id="{DEC49DDA-C07C-1B23-9544-D29B59E0F5E4}"/>
              </a:ext>
            </a:extLst>
          </p:cNvPr>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
        <p:nvSpPr>
          <p:cNvPr id="14" name="TextBox 13"/>
          <p:cNvSpPr txBox="1"/>
          <p:nvPr/>
        </p:nvSpPr>
        <p:spPr>
          <a:xfrm>
            <a:off x="822960" y="365760"/>
            <a:ext cx="10515600" cy="822960"/>
          </a:xfrm>
          <a:prstGeom prst="rect">
            <a:avLst/>
          </a:prstGeom>
          <a:noFill/>
        </p:spPr>
        <p:txBody>
          <a:bodyPr wrap="square">
            <a:spAutoFit/>
          </a:bodyPr>
          <a:lstStyle/>
          <a:p>
            <a:pPr algn="l">
              <a:defRPr b="1" sz="3200">
                <a:solidFill>
                  <a:srgbClr val="1E3A8A"/>
                </a:solidFill>
                <a:latin typeface="Calibri"/>
              </a:defRPr>
            </a:pPr>
            <a:r>
              <a:t>System Architecture Flowchart</a:t>
            </a:r>
          </a:p>
        </p:txBody>
      </p:sp>
      <p:pic>
        <p:nvPicPr>
          <p:cNvPr id="15" name="Picture 14" descr="architecture_flow.png"/>
          <p:cNvPicPr>
            <a:picLocks noChangeAspect="1"/>
          </p:cNvPicPr>
          <p:nvPr/>
        </p:nvPicPr>
        <p:blipFill>
          <a:blip r:embed="rId3"/>
          <a:stretch>
            <a:fillRect/>
          </a:stretch>
        </p:blipFill>
        <p:spPr>
          <a:xfrm>
            <a:off x="2651760" y="1188720"/>
            <a:ext cx="6675120" cy="4663440"/>
          </a:xfrm>
          <a:prstGeom prst="rect">
            <a:avLst/>
          </a:prstGeom>
        </p:spPr>
      </p:pic>
    </p:spTree>
    <p:extLst>
      <p:ext uri="{BB962C8B-B14F-4D97-AF65-F5344CB8AC3E}">
        <p14:creationId xmlns:p14="http://schemas.microsoft.com/office/powerpoint/2010/main" val="3211511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10515600" cy="822960"/>
          </a:xfrm>
        </p:spPr>
        <p:txBody>
          <a:bodyPr wrap="square"/>
          <a:lstStyle/>
          <a:p>
            <a:pPr algn="l">
              <a:defRPr b="1" sz="3200">
                <a:solidFill>
                  <a:srgbClr val="1E3A8A"/>
                </a:solidFill>
                <a:latin typeface="Calibri"/>
              </a:defRPr>
            </a:pPr>
            <a:r>
              <a:t>Modules: Explanation of Architectural Diagram</a:t>
            </a:r>
          </a:p>
        </p:txBody>
      </p:sp>
      <p:sp>
        <p:nvSpPr>
          <p:cNvPr id="3" name="Content Placeholder 2"/>
          <p:cNvSpPr>
            <a:spLocks noGrp="1"/>
          </p:cNvSpPr>
          <p:nvPr>
            <p:ph idx="1"/>
          </p:nvPr>
        </p:nvSpPr>
        <p:spPr>
          <a:xfrm>
            <a:off x="822960" y="1371600"/>
            <a:ext cx="10515600" cy="4297680"/>
          </a:xfrm>
        </p:spPr>
        <p:txBody>
          <a:bodyPr wrap="square">
            <a:normAutofit/>
          </a:bodyPr>
          <a:lstStyle/>
          <a:p>
            <a:pPr>
              <a:spcBef>
                <a:spcPts val="0"/>
              </a:spcBef>
              <a:spcAft>
                <a:spcPts val="200"/>
              </a:spcAft>
              <a:buNone/>
              <a:defRPr b="1" sz="1600">
                <a:solidFill>
                  <a:srgbClr val="1F3864"/>
                </a:solidFill>
                <a:latin typeface="Calibri"/>
              </a:defRPr>
            </a:pPr>
            <a:r>
              <a:t>Module 1 — Data &amp; Scenario Ingestion</a:t>
            </a:r>
          </a:p>
          <a:p>
            <a:pPr>
              <a:spcAft>
                <a:spcPts val="400"/>
              </a:spcAft>
              <a:defRPr b="0" sz="1400">
                <a:solidFill>
                  <a:srgbClr val="1E293B"/>
                </a:solidFill>
                <a:latin typeface="Calibri"/>
              </a:defRPr>
            </a:pPr>
            <a:r>
              <a:t>Validates incident parameters (rainfall intensity 1–5, water depth 0.1–3.0m, spread rate) and spatial inputs across 200 GCC wards and OSM road networks.</a:t>
            </a:r>
          </a:p>
          <a:p>
            <a:pPr>
              <a:spcBef>
                <a:spcPts val="600"/>
              </a:spcBef>
              <a:spcAft>
                <a:spcPts val="200"/>
              </a:spcAft>
              <a:defRPr b="1" sz="1600">
                <a:solidFill>
                  <a:srgbClr val="1F3864"/>
                </a:solidFill>
                <a:latin typeface="Calibri"/>
              </a:defRPr>
            </a:pPr>
            <a:r>
              <a:t>Module 2 — Inundation Dynamics &amp; Graph Pruning</a:t>
            </a:r>
          </a:p>
          <a:p>
            <a:pPr>
              <a:spcAft>
                <a:spcPts val="400"/>
              </a:spcAft>
              <a:defRPr b="0" sz="1400">
                <a:solidFill>
                  <a:srgbClr val="1E293B"/>
                </a:solidFill>
                <a:latin typeface="Calibri"/>
              </a:defRPr>
            </a:pPr>
            <a:r>
              <a:t>Calculates temporal flood dilation and depth decay. Dynamically prunes NetworkX road graph edges exceeding safe transit depths (0.50m evacuation, 0.30m trucks).</a:t>
            </a:r>
          </a:p>
          <a:p>
            <a:pPr>
              <a:spcBef>
                <a:spcPts val="600"/>
              </a:spcBef>
              <a:spcAft>
                <a:spcPts val="200"/>
              </a:spcAft>
              <a:defRPr b="1" sz="1600">
                <a:solidFill>
                  <a:srgbClr val="1F3864"/>
                </a:solidFill>
                <a:latin typeface="Calibri"/>
              </a:defRPr>
            </a:pPr>
            <a:r>
              <a:t>Module 3 — Dual Predictive ML Engine</a:t>
            </a:r>
          </a:p>
          <a:p>
            <a:pPr>
              <a:spcAft>
                <a:spcPts val="400"/>
              </a:spcAft>
              <a:defRPr b="0" sz="1400">
                <a:solidFill>
                  <a:srgbClr val="1E293B"/>
                </a:solidFill>
                <a:latin typeface="Calibri"/>
              </a:defRPr>
            </a:pPr>
            <a:r>
              <a:t>NASA POWER 180-tree GBDT model classifies next-day rainfall hazard (&gt;=10mm, 87.12% AUC). 128-Tree Extra Trees + Ridge ensemble predicts per-capita water, food, and medical demand.</a:t>
            </a:r>
          </a:p>
          <a:p>
            <a:pPr>
              <a:spcBef>
                <a:spcPts val="600"/>
              </a:spcBef>
              <a:spcAft>
                <a:spcPts val="200"/>
              </a:spcAft>
              <a:defRPr b="1" sz="1600">
                <a:solidFill>
                  <a:srgbClr val="1F3864"/>
                </a:solidFill>
                <a:latin typeface="Calibri"/>
              </a:defRPr>
            </a:pPr>
            <a:r>
              <a:t>Module 4 — Split-Conformal Calibration</a:t>
            </a:r>
          </a:p>
          <a:p>
            <a:pPr>
              <a:spcAft>
                <a:spcPts val="400"/>
              </a:spcAft>
              <a:defRPr b="0" sz="1400">
                <a:solidFill>
                  <a:srgbClr val="1E293B"/>
                </a:solidFill>
                <a:latin typeface="Calibri"/>
              </a:defRPr>
            </a:pPr>
            <a:r>
              <a:t>Computes finite-sample non-conformity scores on dedicated calibration data, producing distribution-free 90% prediction intervals with humanitarian minimum safety floors.</a:t>
            </a:r>
          </a:p>
          <a:p>
            <a:pPr>
              <a:spcBef>
                <a:spcPts val="600"/>
              </a:spcBef>
              <a:spcAft>
                <a:spcPts val="200"/>
              </a:spcAft>
              <a:defRPr b="1" sz="1600">
                <a:solidFill>
                  <a:srgbClr val="1F3864"/>
                </a:solidFill>
                <a:latin typeface="Calibri"/>
              </a:defRPr>
            </a:pPr>
            <a:r>
              <a:t>Module 5 — Mathematical Optimization (OR-Tools)</a:t>
            </a:r>
          </a:p>
          <a:p>
            <a:pPr>
              <a:spcAft>
                <a:spcPts val="400"/>
              </a:spcAft>
              <a:defRPr b="0" sz="1400">
                <a:solidFill>
                  <a:srgbClr val="1E293B"/>
                </a:solidFill>
                <a:latin typeface="Calibri"/>
              </a:defRPr>
            </a:pPr>
            <a:r>
              <a:t>Formulates multi-commodity distribution as a Linear Program (GLOP), enforcing shelter capacities, depot stock bounds, and transaction rollback.</a:t>
            </a:r>
          </a:p>
          <a:p>
            <a:pPr>
              <a:spcBef>
                <a:spcPts val="600"/>
              </a:spcBef>
              <a:spcAft>
                <a:spcPts val="200"/>
              </a:spcAft>
              <a:defRPr b="1" sz="1600">
                <a:solidFill>
                  <a:srgbClr val="1F3864"/>
                </a:solidFill>
                <a:latin typeface="Calibri"/>
              </a:defRPr>
            </a:pPr>
            <a:r>
              <a:t>Module 6 — Dynamic Routing &amp; Multi-Modal Fleet</a:t>
            </a:r>
          </a:p>
          <a:p>
            <a:pPr>
              <a:spcAft>
                <a:spcPts val="400"/>
              </a:spcAft>
              <a:defRPr b="0" sz="1400">
                <a:solidFill>
                  <a:srgbClr val="1E293B"/>
                </a:solidFill>
                <a:latin typeface="Calibri"/>
              </a:defRPr>
            </a:pPr>
            <a:r>
              <a:t>Solves shortest-path Dijkstra/A* routing for evacuation and dispatches configured rescue trucks, flood-rescue boats, and airlift units to isolated ward clusters.</a:t>
            </a:r>
          </a:p>
        </p:txBody>
      </p:sp>
      <p:sp>
        <p:nvSpPr>
          <p:cNvPr id="12" name="Footer Placeholder 8"/>
          <p:cNvSpPr>
            <a:spLocks noGrp="1"/>
          </p:cNvSpPr>
          <p:nvPr>
            <p:ph type="ftr" sz="quarter" idx="11"/>
          </p:nvPr>
        </p:nvSpPr>
        <p:spPr>
          <a:xfrm>
            <a:off x="2660670" y="6286193"/>
            <a:ext cx="6870660" cy="365125"/>
          </a:xfrm>
        </p:spPr>
        <p:txBody>
          <a:bodyPr/>
          <a:lstStyle/>
          <a:p>
            <a:pPr algn="ctr">
              <a:defRPr sz="1200">
                <a:solidFill>
                  <a:srgbClr val="64748B"/>
                </a:solidFill>
                <a:latin typeface="Calibri"/>
              </a:defRPr>
            </a:pPr>
            <a:r>
              <a:t>10</a:t>
            </a:r>
          </a:p>
        </p:txBody>
      </p:sp>
      <p:sp>
        <p:nvSpPr>
          <p:cNvPr id="13" name="TextBox 12"/>
          <p:cNvSpPr txBox="1"/>
          <p:nvPr/>
        </p:nvSpPr>
        <p:spPr>
          <a:xfrm>
            <a:off x="9882316" y="6245362"/>
            <a:ext cx="1907142" cy="369332"/>
          </a:xfrm>
          <a:prstGeom prst="rect">
            <a:avLst/>
          </a:prstGeom>
          <a:noFill/>
        </p:spPr>
        <p:txBody>
          <a:bodyPr wrap="square" rtlCol="0">
            <a:spAutoFit/>
          </a:bodyPr>
          <a:lstStyle/>
          <a:p>
            <a:pPr algn="ctr">
              <a:defRPr sz="1100">
                <a:solidFill>
                  <a:srgbClr val="64748B"/>
                </a:solidFill>
                <a:latin typeface="Calibri"/>
              </a:defRPr>
            </a:pPr>
            <a:r>
              <a:t>22 - 10 - 2026</a:t>
            </a:r>
            <a:endParaRPr lang="en-IN" dirty="0">
              <a:solidFill>
                <a:schemeClr val="tx2">
                  <a:lumMod val="1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DATASET STATISTICS</a:t>
            </a:r>
            <a:endParaRPr/>
          </a:p>
        </p:txBody>
      </p:sp>
      <p:sp>
        <p:nvSpPr>
          <p:cNvPr id="159" name="Google Shape;159;p8"/>
          <p:cNvSpPr txBox="1"/>
          <p:nvPr/>
        </p:nvSpPr>
        <p:spPr>
          <a:xfrm>
            <a:off x="822960" y="1371600"/>
            <a:ext cx="5120640" cy="429768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800"/>
              </a:spcAft>
              <a:buNone/>
              <a:defRPr>
                <a:latin typeface="Calibri"/>
              </a:defRPr>
            </a:pPr>
            <a:r>
              <a:rPr b="1" sz="1450">
                <a:solidFill>
                  <a:srgbClr val="1F3864"/>
                </a:solidFill>
                <a:latin typeface="Calibri"/>
              </a:rPr>
              <a:t>• NASA POWER Chennai Weather Dataset: </a:t>
            </a:r>
            <a:r>
              <a:rPr b="0" sz="1350">
                <a:solidFill>
                  <a:srgbClr val="1E293B"/>
                </a:solidFill>
                <a:latin typeface="Calibri"/>
              </a:rPr>
              <a:t>9,131 daily records (2001-2025) at latitude 13.0827, longitude 80.2707.</a:t>
            </a:r>
            <a:endParaRPr/>
          </a:p>
          <a:p>
            <a:pPr>
              <a:spcAft>
                <a:spcPts val="800"/>
              </a:spcAft>
              <a:defRPr>
                <a:latin typeface="Calibri"/>
              </a:defRPr>
            </a:pPr>
            <a:r>
              <a:rPr b="1" sz="1450">
                <a:solidFill>
                  <a:srgbClr val="1F3864"/>
                </a:solidFill>
                <a:latin typeface="Calibri"/>
              </a:rPr>
              <a:t>• Meteorological Attributes (13 Features): </a:t>
            </a:r>
            <a:r>
              <a:rPr b="0" sz="1350">
                <a:solidFill>
                  <a:srgbClr val="1E293B"/>
                </a:solidFill>
                <a:latin typeface="Calibri"/>
              </a:rPr>
              <a:t>Precipitation, temp, humidity, wind, pressure, 3/7-day lags, and cyclic seasonality.</a:t>
            </a:r>
          </a:p>
          <a:p>
            <a:pPr>
              <a:spcAft>
                <a:spcPts val="800"/>
              </a:spcAft>
              <a:defRPr>
                <a:latin typeface="Calibri"/>
              </a:defRPr>
            </a:pPr>
            <a:r>
              <a:rPr b="1" sz="1450">
                <a:solidFill>
                  <a:srgbClr val="1F3864"/>
                </a:solidFill>
                <a:latin typeface="Calibri"/>
              </a:rPr>
              <a:t>• Strict Chronological Split Protocol: </a:t>
            </a:r>
            <a:r>
              <a:rPr b="0" sz="1350">
                <a:solidFill>
                  <a:srgbClr val="1E293B"/>
                </a:solidFill>
                <a:latin typeface="Calibri"/>
              </a:rPr>
              <a:t>Training: 6,567 days (2001-2018) | Val: 1,096 days (2019-2021) | Test: 1,461 days (2022-2025).</a:t>
            </a:r>
          </a:p>
          <a:p>
            <a:pPr>
              <a:spcAft>
                <a:spcPts val="800"/>
              </a:spcAft>
              <a:defRPr>
                <a:latin typeface="Calibri"/>
              </a:defRPr>
            </a:pPr>
            <a:r>
              <a:rPr b="1" sz="1450">
                <a:solidFill>
                  <a:srgbClr val="1F3864"/>
                </a:solidFill>
                <a:latin typeface="Calibri"/>
              </a:rPr>
              <a:t>• Multi-Scenario Relief Demand Dataset: </a:t>
            </a:r>
            <a:r>
              <a:rPr b="0" sz="1350">
                <a:solidFill>
                  <a:srgbClr val="1E293B"/>
                </a:solidFill>
                <a:latin typeface="Calibri"/>
              </a:rPr>
              <a:t>55,000 synthetic disaster rows; complete hold-out of 2023 Cyclone Michaung (16,513 rows).</a:t>
            </a:r>
          </a:p>
          <a:p>
            <a:pPr>
              <a:spcAft>
                <a:spcPts val="800"/>
              </a:spcAft>
              <a:defRPr>
                <a:latin typeface="Calibri"/>
              </a:defRPr>
            </a:pPr>
            <a:r>
              <a:rPr b="1" sz="1450">
                <a:solidFill>
                  <a:srgbClr val="1F3864"/>
                </a:solidFill>
                <a:latin typeface="Calibri"/>
              </a:rPr>
              <a:t>• Spatial Infrastructure Inventory: </a:t>
            </a:r>
            <a:r>
              <a:rPr b="0" sz="1350">
                <a:solidFill>
                  <a:srgbClr val="1E293B"/>
                </a:solidFill>
                <a:latin typeface="Calibri"/>
              </a:rPr>
              <a:t>12 verified public shelters (5,400 capacity), 5 depots, 10 distribution hubs, 200 wards.</a:t>
            </a:r>
          </a:p>
        </p:txBody>
      </p:sp>
      <p:pic>
        <p:nvPicPr>
          <p:cNvPr id="160" name="Picture 159" descr="dataset_statistics_table.png"/>
          <p:cNvPicPr>
            <a:picLocks noChangeAspect="1"/>
          </p:cNvPicPr>
          <p:nvPr/>
        </p:nvPicPr>
        <p:blipFill>
          <a:blip r:embed="rId4"/>
          <a:stretch>
            <a:fillRect/>
          </a:stretch>
        </p:blipFill>
        <p:spPr>
          <a:xfrm>
            <a:off x="6217920" y="1371600"/>
            <a:ext cx="521208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defRPr b="1" sz="3200">
                <a:solidFill>
                  <a:srgbClr val="1E3A8A"/>
                </a:solidFill>
                <a:latin typeface="Calibri"/>
              </a:defRPr>
            </a:pPr>
            <a:r>
              <a:t>MODEL EVALUATION</a:t>
            </a:r>
            <a:endParaRPr sz="4600" b="1">
              <a:solidFill>
                <a:schemeClr val="dk1"/>
              </a:solidFill>
            </a:endParaRPr>
          </a:p>
        </p:txBody>
      </p:sp>
      <p:sp>
        <p:nvSpPr>
          <p:cNvPr id="166" name="Google Shape;166;p9"/>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fontScale="70000" lnSpcReduction="20000"/>
          </a:bodyPr>
          <a:lstStyle/>
          <a:p>
            <a:pPr marL="91440" lvl="0" indent="-91440" algn="l" rtl="0">
              <a:lnSpc>
                <a:spcPct val="90000"/>
              </a:lnSpc>
              <a:spcBef>
                <a:spcPts val="0"/>
              </a:spcBef>
              <a:spcAft>
                <a:spcPts val="800"/>
              </a:spcAft>
              <a:buSzPct val="100000"/>
              <a:buNone/>
              <a:defRPr>
                <a:latin typeface="Calibri"/>
              </a:defRPr>
            </a:pPr>
            <a:r>
              <a:rPr b="1" sz="1450">
                <a:solidFill>
                  <a:srgbClr val="1F3864"/>
                </a:solidFill>
                <a:latin typeface="Calibri"/>
              </a:rPr>
              <a:t>• Multi-Model Comparative Framework: </a:t>
            </a:r>
            <a:r>
              <a:rPr b="0" sz="1350">
                <a:solidFill>
                  <a:srgbClr val="1E293B"/>
                </a:solidFill>
                <a:latin typeface="Calibri"/>
              </a:rPr>
              <a:t>Evaluated Gradient Boosted Trees (180 depth-2 trees, lr=0.04), Random Forest (300 estimators), and Persistence baselines for weather.</a:t>
            </a:r>
            <a:endParaRPr/>
          </a:p>
          <a:p>
            <a:pPr>
              <a:spcAft>
                <a:spcPts val="800"/>
              </a:spcAft>
              <a:defRPr>
                <a:latin typeface="Calibri"/>
              </a:defRPr>
            </a:pPr>
            <a:r>
              <a:rPr b="1" sz="1450">
                <a:solidFill>
                  <a:srgbClr val="1F3864"/>
                </a:solidFill>
                <a:latin typeface="Calibri"/>
              </a:rPr>
              <a:t>• Multi-Output Relief Demand Ensemble: </a:t>
            </a:r>
            <a:r>
              <a:rPr b="0" sz="1350">
                <a:solidFill>
                  <a:srgbClr val="1E293B"/>
                </a:solidFill>
                <a:latin typeface="Calibri"/>
              </a:rPr>
              <a:t>64 Extra Trees, 64 Random Forest, and Scaled Ridge Regression with convex out-of-event weight grid optimization.</a:t>
            </a:r>
          </a:p>
          <a:p>
            <a:pPr>
              <a:spcAft>
                <a:spcPts val="800"/>
              </a:spcAft>
              <a:defRPr>
                <a:latin typeface="Calibri"/>
              </a:defRPr>
            </a:pPr>
            <a:r>
              <a:rPr b="1" sz="1450">
                <a:solidFill>
                  <a:srgbClr val="1F3864"/>
                </a:solidFill>
                <a:latin typeface="Calibri"/>
              </a:rPr>
              <a:t>• Strict Held-Out Evaluation: </a:t>
            </a:r>
            <a:r>
              <a:rPr b="0" sz="1350">
                <a:solidFill>
                  <a:srgbClr val="1E293B"/>
                </a:solidFill>
                <a:latin typeface="Calibri"/>
              </a:rPr>
              <a:t>Zero-leakage testing on chronological 2022-2025 weather reanalysis and Cyclone Michaung disaster group.</a:t>
            </a:r>
          </a:p>
          <a:p>
            <a:pPr>
              <a:spcAft>
                <a:spcPts val="800"/>
              </a:spcAft>
              <a:defRPr>
                <a:latin typeface="Calibri"/>
              </a:defRPr>
            </a:pPr>
            <a:r>
              <a:rPr b="1" sz="1450">
                <a:solidFill>
                  <a:srgbClr val="1F3864"/>
                </a:solidFill>
                <a:latin typeface="Calibri"/>
              </a:rPr>
              <a:t>• Superior Life-Safety Metrics: </a:t>
            </a:r>
            <a:r>
              <a:rPr b="0" sz="1350">
                <a:solidFill>
                  <a:srgbClr val="1E293B"/>
                </a:solidFill>
                <a:latin typeface="Calibri"/>
              </a:rPr>
              <a:t>Selected Gradient Boosted model achieved 0.8712 ROC-AUC and 80.36% Recall, prioritizing emergency warning responsiveness.</a:t>
            </a:r>
          </a:p>
        </p:txBody>
      </p:sp>
      <p:pic>
        <p:nvPicPr>
          <p:cNvPr id="167" name="Picture 166" descr="model_performance_comparison.png"/>
          <p:cNvPicPr>
            <a:picLocks noChangeAspect="1"/>
          </p:cNvPicPr>
          <p:nvPr/>
        </p:nvPicPr>
        <p:blipFill>
          <a:blip r:embed="rId4"/>
          <a:stretch>
            <a:fillRect/>
          </a:stretch>
        </p:blipFill>
        <p:spPr>
          <a:xfrm>
            <a:off x="6217920" y="1371600"/>
            <a:ext cx="5303520" cy="4114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0"/>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defRPr b="1" sz="3200">
                <a:solidFill>
                  <a:srgbClr val="1E3A8A"/>
                </a:solidFill>
                <a:latin typeface="Calibri"/>
              </a:defRPr>
            </a:pPr>
            <a:r>
              <a:t>CONFIDENCE CALIBRATION AND EXPLAINABILITY</a:t>
            </a:r>
            <a:endParaRPr sz="6000" b="1">
              <a:solidFill>
                <a:schemeClr val="dk1"/>
              </a:solidFill>
            </a:endParaRPr>
          </a:p>
        </p:txBody>
      </p:sp>
      <p:sp>
        <p:nvSpPr>
          <p:cNvPr id="174" name="Google Shape;174;p10"/>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fontScale="85000" lnSpcReduction="20000"/>
          </a:bodyPr>
          <a:lstStyle/>
          <a:p>
            <a:pPr marL="91440" lvl="0" indent="-127000" algn="l" rtl="0">
              <a:lnSpc>
                <a:spcPct val="90000"/>
              </a:lnSpc>
              <a:spcBef>
                <a:spcPts val="0"/>
              </a:spcBef>
              <a:spcAft>
                <a:spcPts val="800"/>
              </a:spcAft>
              <a:buSzPts val="2000"/>
              <a:buChar char=" "/>
              <a:defRPr>
                <a:latin typeface="Calibri"/>
              </a:defRPr>
            </a:pPr>
            <a:r>
              <a:rPr b="1" sz="1450">
                <a:solidFill>
                  <a:srgbClr val="1F3864"/>
                </a:solidFill>
                <a:latin typeface="Calibri"/>
              </a:rPr>
              <a:t>• Split-Conformal Prediction Framework: </a:t>
            </a:r>
            <a:r>
              <a:rPr b="0" sz="1350">
                <a:solidFill>
                  <a:srgbClr val="1E293B"/>
                </a:solidFill>
                <a:latin typeface="Calibri"/>
              </a:rPr>
              <a:t>Employs distribution-free inductive conformal prediction on 9,622 independent calibration rows.</a:t>
            </a:r>
            <a:endParaRPr/>
          </a:p>
          <a:p>
            <a:pPr>
              <a:spcAft>
                <a:spcPts val="800"/>
              </a:spcAft>
              <a:defRPr>
                <a:latin typeface="Calibri"/>
              </a:defRPr>
            </a:pPr>
            <a:r>
              <a:rPr b="1" sz="1450">
                <a:solidFill>
                  <a:srgbClr val="1F3864"/>
                </a:solidFill>
                <a:latin typeface="Calibri"/>
              </a:rPr>
              <a:t>• Finite-Sample Mathematical Coverage: </a:t>
            </a:r>
            <a:r>
              <a:rPr b="0" sz="1350">
                <a:solidFill>
                  <a:srgbClr val="1E293B"/>
                </a:solidFill>
                <a:latin typeface="Calibri"/>
              </a:rPr>
              <a:t>Achieves nominal 90% marginal coverage on held-out test data (Water: 89.81%, Food: 90.29%, Medical Kits: 93.90%).</a:t>
            </a:r>
          </a:p>
          <a:p>
            <a:pPr>
              <a:spcAft>
                <a:spcPts val="800"/>
              </a:spcAft>
              <a:defRPr>
                <a:latin typeface="Calibri"/>
              </a:defRPr>
            </a:pPr>
            <a:r>
              <a:rPr b="1" sz="1450">
                <a:solidFill>
                  <a:srgbClr val="1F3864"/>
                </a:solidFill>
                <a:latin typeface="Calibri"/>
              </a:rPr>
              <a:t>• Reliable Emergency Safety Margins: </a:t>
            </a:r>
            <a:r>
              <a:rPr b="0" sz="1350">
                <a:solidFill>
                  <a:srgbClr val="1E293B"/>
                </a:solidFill>
                <a:latin typeface="Calibri"/>
              </a:rPr>
              <a:t>Automatically bounds demand upper and lower estimates to prevent supply deficits under extreme surges.</a:t>
            </a:r>
          </a:p>
          <a:p>
            <a:pPr>
              <a:spcAft>
                <a:spcPts val="800"/>
              </a:spcAft>
              <a:defRPr>
                <a:latin typeface="Calibri"/>
              </a:defRPr>
            </a:pPr>
            <a:r>
              <a:rPr b="1" sz="1450">
                <a:solidFill>
                  <a:srgbClr val="1F3864"/>
                </a:solidFill>
                <a:latin typeface="Calibri"/>
              </a:rPr>
              <a:t>• Humanitarian Planning Minimums: </a:t>
            </a:r>
            <a:r>
              <a:rPr b="0" sz="1350">
                <a:solidFill>
                  <a:srgbClr val="1E293B"/>
                </a:solidFill>
                <a:latin typeface="Calibri"/>
              </a:rPr>
              <a:t>Enforces strict safety floors (3.0 L drinking water, 3.0 food units, 0.02 medical kits per capita) to prevent degenerate allocations.</a:t>
            </a:r>
          </a:p>
        </p:txBody>
      </p:sp>
      <p:pic>
        <p:nvPicPr>
          <p:cNvPr id="175" name="Picture 174" descr="confidence_calibration.png"/>
          <p:cNvPicPr>
            <a:picLocks noChangeAspect="1"/>
          </p:cNvPicPr>
          <p:nvPr/>
        </p:nvPicPr>
        <p:blipFill>
          <a:blip r:embed="rId4"/>
          <a:stretch>
            <a:fillRect/>
          </a:stretch>
        </p:blipFill>
        <p:spPr>
          <a:xfrm>
            <a:off x="6217920" y="1371600"/>
            <a:ext cx="5303520" cy="411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defRPr b="1" sz="3200">
                <a:solidFill>
                  <a:srgbClr val="1E3A8A"/>
                </a:solidFill>
                <a:latin typeface="Calibri"/>
              </a:defRPr>
            </a:pPr>
            <a:r>
              <a:t>WHY GRADIENT BOOSTING &amp; EXTRA TREES?</a:t>
            </a:r>
            <a:endParaRPr sz="6000" b="1">
              <a:solidFill>
                <a:schemeClr val="dk1"/>
              </a:solidFill>
            </a:endParaRPr>
          </a:p>
        </p:txBody>
      </p:sp>
      <p:sp>
        <p:nvSpPr>
          <p:cNvPr id="181" name="Google Shape;181;p11"/>
          <p:cNvSpPr txBox="1">
            <a:spLocks noGrp="1"/>
          </p:cNvSpPr>
          <p:nvPr>
            <p:ph type="body" idx="1"/>
          </p:nvPr>
        </p:nvSpPr>
        <p:spPr>
          <a:xfrm>
            <a:off x="822960" y="1371600"/>
            <a:ext cx="10515600" cy="4297680"/>
          </a:xfrm>
          <a:prstGeom prst="rect">
            <a:avLst/>
          </a:prstGeom>
          <a:noFill/>
          <a:ln>
            <a:noFill/>
          </a:ln>
        </p:spPr>
        <p:txBody>
          <a:bodyPr spcFirstLastPara="1" wrap="square" lIns="91425" tIns="45700" rIns="91425" bIns="45700" anchor="ctr" anchorCtr="0">
            <a:normAutofit fontScale="92500"/>
          </a:bodyPr>
          <a:lstStyle/>
          <a:p>
            <a:pPr marL="91440" lvl="0" indent="-129223" algn="l" rtl="0">
              <a:lnSpc>
                <a:spcPct val="90000"/>
              </a:lnSpc>
              <a:spcBef>
                <a:spcPts val="0"/>
              </a:spcBef>
              <a:spcAft>
                <a:spcPts val="200"/>
              </a:spcAft>
              <a:buSzPct val="100000"/>
              <a:buChar char=" "/>
              <a:defRPr b="1" sz="1600">
                <a:solidFill>
                  <a:srgbClr val="1F3864"/>
                </a:solidFill>
                <a:latin typeface="Calibri"/>
              </a:defRPr>
            </a:pPr>
            <a:r>
              <a:t>Tabular Data Superiority</a:t>
            </a:r>
            <a:endParaRPr/>
          </a:p>
          <a:p>
            <a:pPr>
              <a:spcAft>
                <a:spcPts val="400"/>
              </a:spcAft>
              <a:defRPr b="0" sz="1400">
                <a:solidFill>
                  <a:srgbClr val="1E293B"/>
                </a:solidFill>
                <a:latin typeface="Calibri"/>
              </a:defRPr>
            </a:pPr>
            <a:r>
              <a:t>Meteorological variables and disaster relief factors are structured tabular matrices where shallow tree ensembles consistently outperform deep networks without overfitting.</a:t>
            </a:r>
          </a:p>
          <a:p>
            <a:pPr>
              <a:spcBef>
                <a:spcPts val="600"/>
              </a:spcBef>
              <a:spcAft>
                <a:spcPts val="200"/>
              </a:spcAft>
              <a:defRPr b="1" sz="1600">
                <a:solidFill>
                  <a:srgbClr val="1F3864"/>
                </a:solidFill>
                <a:latin typeface="Calibri"/>
              </a:defRPr>
            </a:pPr>
            <a:r>
              <a:t>Pure-Python Zero-Dependency Inference</a:t>
            </a:r>
          </a:p>
          <a:p>
            <a:pPr>
              <a:spcAft>
                <a:spcPts val="400"/>
              </a:spcAft>
              <a:defRPr b="0" sz="1400">
                <a:solidFill>
                  <a:srgbClr val="1E293B"/>
                </a:solidFill>
                <a:latin typeface="Calibri"/>
              </a:defRPr>
            </a:pPr>
            <a:r>
              <a:t>Deployed models are exported as lightweight JSON decision trees and linear coefficients, executing in &lt;1.2 ms with standard Python dictionaries—no PyTorch or GPU required.</a:t>
            </a:r>
          </a:p>
          <a:p>
            <a:pPr>
              <a:spcBef>
                <a:spcPts val="600"/>
              </a:spcBef>
              <a:spcAft>
                <a:spcPts val="200"/>
              </a:spcAft>
              <a:defRPr b="1" sz="1600">
                <a:solidFill>
                  <a:srgbClr val="1F3864"/>
                </a:solidFill>
                <a:latin typeface="Calibri"/>
              </a:defRPr>
            </a:pPr>
            <a:r>
              <a:t>Asymmetric Recall Optimization</a:t>
            </a:r>
          </a:p>
          <a:p>
            <a:pPr>
              <a:spcAft>
                <a:spcPts val="400"/>
              </a:spcAft>
              <a:defRPr b="0" sz="1400">
                <a:solidFill>
                  <a:srgbClr val="1E293B"/>
                </a:solidFill>
                <a:latin typeface="Calibri"/>
              </a:defRPr>
            </a:pPr>
            <a:r>
              <a:t>Shallow depth-2 gradient boosting with validation-tuned decision thresholds achieves 80.36% recall, critically minimizing missed disaster warnings.</a:t>
            </a:r>
          </a:p>
          <a:p>
            <a:pPr>
              <a:spcBef>
                <a:spcPts val="600"/>
              </a:spcBef>
              <a:spcAft>
                <a:spcPts val="200"/>
              </a:spcAft>
              <a:defRPr b="1" sz="1600">
                <a:solidFill>
                  <a:srgbClr val="1F3864"/>
                </a:solidFill>
                <a:latin typeface="Calibri"/>
              </a:defRPr>
            </a:pPr>
            <a:r>
              <a:t>Robust Out-of-Event Generalization</a:t>
            </a:r>
          </a:p>
          <a:p>
            <a:pPr>
              <a:spcAft>
                <a:spcPts val="400"/>
              </a:spcAft>
              <a:defRPr b="0" sz="1400">
                <a:solidFill>
                  <a:srgbClr val="1E293B"/>
                </a:solidFill>
                <a:latin typeface="Calibri"/>
              </a:defRPr>
            </a:pPr>
            <a:r>
              <a:t>Blending Extra Trees with Ridge regression dampens variance across extreme out-of-event disaster scenarios.</a:t>
            </a:r>
          </a:p>
          <a:p>
            <a:pPr>
              <a:spcBef>
                <a:spcPts val="600"/>
              </a:spcBef>
              <a:spcAft>
                <a:spcPts val="200"/>
              </a:spcAft>
              <a:defRPr b="1" sz="1600">
                <a:solidFill>
                  <a:srgbClr val="1F3864"/>
                </a:solidFill>
                <a:latin typeface="Calibri"/>
              </a:defRPr>
            </a:pPr>
            <a:r>
              <a:t>Provenance &amp; Auditability</a:t>
            </a:r>
          </a:p>
          <a:p>
            <a:pPr>
              <a:spcAft>
                <a:spcPts val="400"/>
              </a:spcAft>
              <a:defRPr b="0" sz="1400">
                <a:solidFill>
                  <a:srgbClr val="1E293B"/>
                </a:solidFill>
                <a:latin typeface="Calibri"/>
              </a:defRPr>
            </a:pPr>
            <a:r>
              <a:t>SHA-256 fingerprinting for datasets and model weights guarantees exact auditability and zero drift during panel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2"/>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6000"/>
              <a:buFont typeface="Calibri"/>
              <a:buNone/>
              <a:defRPr b="1" sz="3200">
                <a:solidFill>
                  <a:srgbClr val="1E3A8A"/>
                </a:solidFill>
                <a:latin typeface="Calibri"/>
              </a:defRPr>
            </a:pPr>
            <a:r>
              <a:t>System Architecture Overview</a:t>
            </a:r>
            <a:endParaRPr sz="6000" b="1">
              <a:solidFill>
                <a:schemeClr val="dk1"/>
              </a:solidFill>
            </a:endParaRPr>
          </a:p>
        </p:txBody>
      </p:sp>
      <p:sp>
        <p:nvSpPr>
          <p:cNvPr id="187" name="Google Shape;187;p12"/>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fontScale="77500" lnSpcReduction="20000"/>
          </a:bodyPr>
          <a:lstStyle/>
          <a:p>
            <a:pPr marL="91440" lvl="0" indent="-127000" algn="l" rtl="0">
              <a:lnSpc>
                <a:spcPct val="90000"/>
              </a:lnSpc>
              <a:spcBef>
                <a:spcPts val="0"/>
              </a:spcBef>
              <a:spcAft>
                <a:spcPts val="800"/>
              </a:spcAft>
              <a:buSzPts val="2000"/>
              <a:buChar char=" "/>
              <a:defRPr>
                <a:latin typeface="Calibri"/>
              </a:defRPr>
            </a:pPr>
            <a:r>
              <a:rPr b="1" sz="1450">
                <a:solidFill>
                  <a:srgbClr val="1F3864"/>
                </a:solidFill>
                <a:latin typeface="Calibri"/>
              </a:rPr>
              <a:t>• Input Layer: </a:t>
            </a:r>
            <a:r>
              <a:rPr b="0" sz="1350">
                <a:solidFill>
                  <a:srgbClr val="1E293B"/>
                </a:solidFill>
                <a:latin typeface="Calibri"/>
              </a:rPr>
              <a:t>13 NASA atmospheric features + Chennai 200 GCC wards and OSM road network.</a:t>
            </a:r>
            <a:endParaRPr/>
          </a:p>
          <a:p>
            <a:pPr>
              <a:spcAft>
                <a:spcPts val="800"/>
              </a:spcAft>
              <a:defRPr>
                <a:latin typeface="Calibri"/>
              </a:defRPr>
            </a:pPr>
            <a:r>
              <a:rPr b="1" sz="1450">
                <a:solidFill>
                  <a:srgbClr val="1F3864"/>
                </a:solidFill>
                <a:latin typeface="Calibri"/>
              </a:rPr>
              <a:t>• Inundation Dynamics Engine: </a:t>
            </a:r>
            <a:r>
              <a:rPr b="0" sz="1350">
                <a:solidFill>
                  <a:srgbClr val="1E293B"/>
                </a:solidFill>
                <a:latin typeface="Calibri"/>
              </a:rPr>
              <a:t>Geometric flood spread with depth-dependent road screening (0.50m evacuation, 0.30m logistics).</a:t>
            </a:r>
          </a:p>
          <a:p>
            <a:pPr>
              <a:spcAft>
                <a:spcPts val="800"/>
              </a:spcAft>
              <a:defRPr>
                <a:latin typeface="Calibri"/>
              </a:defRPr>
            </a:pPr>
            <a:r>
              <a:rPr b="1" sz="1450">
                <a:solidFill>
                  <a:srgbClr val="1F3864"/>
                </a:solidFill>
                <a:latin typeface="Calibri"/>
              </a:rPr>
              <a:t>• Dual Machine Learning Inference: </a:t>
            </a:r>
            <a:r>
              <a:rPr b="0" sz="1350">
                <a:solidFill>
                  <a:srgbClr val="1E293B"/>
                </a:solidFill>
                <a:latin typeface="Calibri"/>
              </a:rPr>
              <a:t>180-Tree GBDT weather classifier + 128-Tree Extra Trees/Ridge demand ensemble.</a:t>
            </a:r>
          </a:p>
          <a:p>
            <a:pPr>
              <a:spcAft>
                <a:spcPts val="800"/>
              </a:spcAft>
              <a:defRPr>
                <a:latin typeface="Calibri"/>
              </a:defRPr>
            </a:pPr>
            <a:r>
              <a:rPr b="1" sz="1450">
                <a:solidFill>
                  <a:srgbClr val="1F3864"/>
                </a:solidFill>
                <a:latin typeface="Calibri"/>
              </a:rPr>
              <a:t>• Conformal Uncertainty Calibration: </a:t>
            </a:r>
            <a:r>
              <a:rPr b="0" sz="1350">
                <a:solidFill>
                  <a:srgbClr val="1E293B"/>
                </a:solidFill>
                <a:latin typeface="Calibri"/>
              </a:rPr>
              <a:t>Split-conformal 90% confidence intervals with planning floors.</a:t>
            </a:r>
          </a:p>
          <a:p>
            <a:pPr>
              <a:spcAft>
                <a:spcPts val="800"/>
              </a:spcAft>
              <a:defRPr>
                <a:latin typeface="Calibri"/>
              </a:defRPr>
            </a:pPr>
            <a:r>
              <a:rPr b="1" sz="1450">
                <a:solidFill>
                  <a:srgbClr val="1F3864"/>
                </a:solidFill>
                <a:latin typeface="Calibri"/>
              </a:rPr>
              <a:t>• Mathematical Optimization: </a:t>
            </a:r>
            <a:r>
              <a:rPr b="0" sz="1350">
                <a:solidFill>
                  <a:srgbClr val="1E293B"/>
                </a:solidFill>
                <a:latin typeface="Calibri"/>
              </a:rPr>
              <a:t>Google OR-Tools GLOP solver for capacity-constrained allocation.</a:t>
            </a:r>
          </a:p>
          <a:p>
            <a:pPr>
              <a:spcAft>
                <a:spcPts val="800"/>
              </a:spcAft>
              <a:defRPr>
                <a:latin typeface="Calibri"/>
              </a:defRPr>
            </a:pPr>
            <a:r>
              <a:rPr b="1" sz="1450">
                <a:solidFill>
                  <a:srgbClr val="1F3864"/>
                </a:solidFill>
                <a:latin typeface="Calibri"/>
              </a:rPr>
              <a:t>• Output &amp; Operational Visualization: </a:t>
            </a:r>
            <a:r>
              <a:rPr b="0" sz="1350">
                <a:solidFill>
                  <a:srgbClr val="1E293B"/>
                </a:solidFill>
                <a:latin typeface="Calibri"/>
              </a:rPr>
              <a:t>Flood-avoidant evacuation routes, fleet dispatch plans, and interactive GIS visualization.</a:t>
            </a:r>
          </a:p>
        </p:txBody>
      </p:sp>
      <p:pic>
        <p:nvPicPr>
          <p:cNvPr id="188" name="Picture 187" descr="system_pipeline.png"/>
          <p:cNvPicPr>
            <a:picLocks noChangeAspect="1"/>
          </p:cNvPicPr>
          <p:nvPr/>
        </p:nvPicPr>
        <p:blipFill>
          <a:blip r:embed="rId4"/>
          <a:stretch>
            <a:fillRect/>
          </a:stretch>
        </p:blipFill>
        <p:spPr>
          <a:xfrm>
            <a:off x="6217920" y="1371600"/>
            <a:ext cx="5212080" cy="4114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3"/>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Architecture Flow &amp; Pipeline Execution</a:t>
            </a:r>
            <a:endParaRPr/>
          </a:p>
        </p:txBody>
      </p:sp>
      <p:sp>
        <p:nvSpPr>
          <p:cNvPr id="194" name="Google Shape;194;p13"/>
          <p:cNvSpPr txBox="1">
            <a:spLocks noGrp="1"/>
          </p:cNvSpPr>
          <p:nvPr>
            <p:ph type="body" idx="1"/>
          </p:nvPr>
        </p:nvSpPr>
        <p:spPr>
          <a:xfrm>
            <a:off x="822960" y="1371600"/>
            <a:ext cx="10515600" cy="4297680"/>
          </a:xfrm>
          <a:prstGeom prst="rect">
            <a:avLst/>
          </a:prstGeom>
          <a:noFill/>
          <a:ln>
            <a:noFill/>
          </a:ln>
        </p:spPr>
        <p:txBody>
          <a:bodyPr spcFirstLastPara="1" wrap="square" lIns="91425" tIns="45700" rIns="91425" bIns="45700" anchor="t" anchorCtr="0">
            <a:normAutofit fontScale="92500" lnSpcReduction="10000"/>
          </a:bodyPr>
          <a:lstStyle/>
          <a:p>
            <a:pPr marL="91440" lvl="0" indent="-140970" algn="l" rtl="0">
              <a:lnSpc>
                <a:spcPct val="90000"/>
              </a:lnSpc>
              <a:spcBef>
                <a:spcPts val="0"/>
              </a:spcBef>
              <a:spcAft>
                <a:spcPts val="200"/>
              </a:spcAft>
              <a:buSzPct val="100000"/>
              <a:buChar char=" "/>
              <a:defRPr b="1" sz="1600">
                <a:solidFill>
                  <a:srgbClr val="1F3864"/>
                </a:solidFill>
                <a:latin typeface="Calibri"/>
              </a:defRPr>
            </a:pPr>
            <a:r>
              <a:t>1. Dataset Ingestion</a:t>
            </a:r>
            <a:endParaRPr/>
          </a:p>
          <a:p>
            <a:pPr>
              <a:spcAft>
                <a:spcPts val="400"/>
              </a:spcAft>
              <a:defRPr b="0" sz="1400">
                <a:solidFill>
                  <a:srgbClr val="1E293B"/>
                </a:solidFill>
                <a:latin typeface="Calibri"/>
              </a:defRPr>
            </a:pPr>
            <a:r>
              <a:t>NASA POWER 9,131 daily records, GCC 200 wards, OSM Chennai road network.</a:t>
            </a:r>
          </a:p>
          <a:p>
            <a:pPr>
              <a:spcBef>
                <a:spcPts val="600"/>
              </a:spcBef>
              <a:spcAft>
                <a:spcPts val="200"/>
              </a:spcAft>
              <a:defRPr b="1" sz="1600">
                <a:solidFill>
                  <a:srgbClr val="1F3864"/>
                </a:solidFill>
                <a:latin typeface="Calibri"/>
              </a:defRPr>
            </a:pPr>
            <a:r>
              <a:t>2. Hydrological Simulation</a:t>
            </a:r>
          </a:p>
          <a:p>
            <a:pPr>
              <a:spcAft>
                <a:spcPts val="400"/>
              </a:spcAft>
              <a:defRPr b="0" sz="1400">
                <a:solidFill>
                  <a:srgbClr val="1E293B"/>
                </a:solidFill>
                <a:latin typeface="Calibri"/>
              </a:defRPr>
            </a:pPr>
            <a:r>
              <a:t>Dynamic flood polygon dilation and depth decay across time steps t=0..T.</a:t>
            </a:r>
          </a:p>
          <a:p>
            <a:pPr>
              <a:spcBef>
                <a:spcPts val="600"/>
              </a:spcBef>
              <a:spcAft>
                <a:spcPts val="200"/>
              </a:spcAft>
              <a:defRPr b="1" sz="1600">
                <a:solidFill>
                  <a:srgbClr val="1F3864"/>
                </a:solidFill>
                <a:latin typeface="Calibri"/>
              </a:defRPr>
            </a:pPr>
            <a:r>
              <a:t>3. Road Graph Pruning</a:t>
            </a:r>
          </a:p>
          <a:p>
            <a:pPr>
              <a:spcAft>
                <a:spcPts val="400"/>
              </a:spcAft>
              <a:defRPr b="0" sz="1400">
                <a:solidFill>
                  <a:srgbClr val="1E293B"/>
                </a:solidFill>
                <a:latin typeface="Calibri"/>
              </a:defRPr>
            </a:pPr>
            <a:r>
              <a:t>NetworkX screens road segments; closes routes with depth &gt;= 0.50m (evacuation) or &gt;= 0.30m (trucks).</a:t>
            </a:r>
          </a:p>
          <a:p>
            <a:pPr>
              <a:spcBef>
                <a:spcPts val="600"/>
              </a:spcBef>
              <a:spcAft>
                <a:spcPts val="200"/>
              </a:spcAft>
              <a:defRPr b="1" sz="1600">
                <a:solidFill>
                  <a:srgbClr val="1F3864"/>
                </a:solidFill>
                <a:latin typeface="Calibri"/>
              </a:defRPr>
            </a:pPr>
            <a:r>
              <a:t>4. Shelter Accessibility Screening</a:t>
            </a:r>
          </a:p>
          <a:p>
            <a:pPr>
              <a:spcAft>
                <a:spcPts val="400"/>
              </a:spcAft>
              <a:defRPr b="0" sz="1400">
                <a:solidFill>
                  <a:srgbClr val="1E293B"/>
                </a:solidFill>
                <a:latin typeface="Calibri"/>
              </a:defRPr>
            </a:pPr>
            <a:r>
              <a:t>Identifies safe, non-inundated public shelters from 12 verified municipal locations.</a:t>
            </a:r>
          </a:p>
          <a:p>
            <a:pPr>
              <a:spcBef>
                <a:spcPts val="600"/>
              </a:spcBef>
              <a:spcAft>
                <a:spcPts val="200"/>
              </a:spcAft>
              <a:defRPr b="1" sz="1600">
                <a:solidFill>
                  <a:srgbClr val="1F3864"/>
                </a:solidFill>
                <a:latin typeface="Calibri"/>
              </a:defRPr>
            </a:pPr>
            <a:r>
              <a:t>5. Machine Learning Demand Prediction</a:t>
            </a:r>
          </a:p>
          <a:p>
            <a:pPr>
              <a:spcAft>
                <a:spcPts val="400"/>
              </a:spcAft>
              <a:defRPr b="0" sz="1400">
                <a:solidFill>
                  <a:srgbClr val="1E293B"/>
                </a:solidFill>
                <a:latin typeface="Calibri"/>
              </a:defRPr>
            </a:pPr>
            <a:r>
              <a:t>128-Tree Extra Trees + Ridge ensemble infers per-person resource needs.</a:t>
            </a:r>
          </a:p>
          <a:p>
            <a:pPr>
              <a:spcBef>
                <a:spcPts val="600"/>
              </a:spcBef>
              <a:spcAft>
                <a:spcPts val="200"/>
              </a:spcAft>
              <a:defRPr b="1" sz="1600">
                <a:solidFill>
                  <a:srgbClr val="1F3864"/>
                </a:solidFill>
                <a:latin typeface="Calibri"/>
              </a:defRPr>
            </a:pPr>
            <a:r>
              <a:t>6. Split-Conformal Interval Calculation</a:t>
            </a:r>
          </a:p>
          <a:p>
            <a:pPr>
              <a:spcAft>
                <a:spcPts val="400"/>
              </a:spcAft>
              <a:defRPr b="0" sz="1400">
                <a:solidFill>
                  <a:srgbClr val="1E293B"/>
                </a:solidFill>
                <a:latin typeface="Calibri"/>
              </a:defRPr>
            </a:pPr>
            <a:r>
              <a:t>Generates verified 90% upper and lower demand confidence bounds.</a:t>
            </a:r>
          </a:p>
          <a:p>
            <a:pPr>
              <a:spcBef>
                <a:spcPts val="600"/>
              </a:spcBef>
              <a:spcAft>
                <a:spcPts val="200"/>
              </a:spcAft>
              <a:defRPr b="1" sz="1600">
                <a:solidFill>
                  <a:srgbClr val="1F3864"/>
                </a:solidFill>
                <a:latin typeface="Calibri"/>
              </a:defRPr>
            </a:pPr>
            <a:r>
              <a:t>7. Mathematical Resource Allocation</a:t>
            </a:r>
          </a:p>
          <a:p>
            <a:pPr>
              <a:spcAft>
                <a:spcPts val="400"/>
              </a:spcAft>
              <a:defRPr b="0" sz="1400">
                <a:solidFill>
                  <a:srgbClr val="1E293B"/>
                </a:solidFill>
                <a:latin typeface="Calibri"/>
              </a:defRPr>
            </a:pPr>
            <a:r>
              <a:t>Google OR-Tools GLOP solver optimizes relief dispatch under inventory conservation.</a:t>
            </a:r>
          </a:p>
          <a:p>
            <a:pPr>
              <a:spcBef>
                <a:spcPts val="600"/>
              </a:spcBef>
              <a:spcAft>
                <a:spcPts val="200"/>
              </a:spcAft>
              <a:defRPr b="1" sz="1600">
                <a:solidFill>
                  <a:srgbClr val="1F3864"/>
                </a:solidFill>
                <a:latin typeface="Calibri"/>
              </a:defRPr>
            </a:pPr>
            <a:r>
              <a:t>8. Dynamic Evacuation &amp; Multi-Modal Routing</a:t>
            </a:r>
          </a:p>
          <a:p>
            <a:pPr>
              <a:spcAft>
                <a:spcPts val="400"/>
              </a:spcAft>
              <a:defRPr b="0" sz="1400">
                <a:solidFill>
                  <a:srgbClr val="1E293B"/>
                </a:solidFill>
                <a:latin typeface="Calibri"/>
              </a:defRPr>
            </a:pPr>
            <a:r>
              <a:t>A* shortest path finds safe corridors; identifies stranded populations for boat/airlift dispatch.</a:t>
            </a:r>
          </a:p>
          <a:p>
            <a:pPr>
              <a:spcBef>
                <a:spcPts val="600"/>
              </a:spcBef>
              <a:spcAft>
                <a:spcPts val="200"/>
              </a:spcAft>
              <a:defRPr b="1" sz="1600">
                <a:solidFill>
                  <a:srgbClr val="1F3864"/>
                </a:solidFill>
                <a:latin typeface="Calibri"/>
              </a:defRPr>
            </a:pPr>
            <a:r>
              <a:t>9. Interactive Dashboard &amp; Report Generation</a:t>
            </a:r>
          </a:p>
          <a:p>
            <a:pPr>
              <a:spcAft>
                <a:spcPts val="400"/>
              </a:spcAft>
              <a:defRPr b="0" sz="1400">
                <a:solidFill>
                  <a:srgbClr val="1E293B"/>
                </a:solidFill>
                <a:latin typeface="Calibri"/>
              </a:defRPr>
            </a:pPr>
            <a:r>
              <a:t>Next.js GIS UI visualizes results in &lt;0.45s and exports self-contained HTML reports.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4"/>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600"/>
              <a:buFont typeface="Calibri"/>
              <a:buNone/>
              <a:defRPr b="1" sz="3200">
                <a:solidFill>
                  <a:srgbClr val="1E3A8A"/>
                </a:solidFill>
                <a:latin typeface="Calibri"/>
              </a:defRPr>
            </a:pPr>
            <a:r>
              <a:t>Baseline Comparison</a:t>
            </a:r>
            <a:endParaRPr sz="6600" b="1">
              <a:solidFill>
                <a:schemeClr val="dk1"/>
              </a:solidFill>
            </a:endParaRPr>
          </a:p>
        </p:txBody>
      </p:sp>
      <p:sp>
        <p:nvSpPr>
          <p:cNvPr id="200" name="Google Shape;200;p14"/>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fontScale="77500" lnSpcReduction="20000"/>
          </a:bodyPr>
          <a:lstStyle/>
          <a:p>
            <a:pPr marL="91440" lvl="0" indent="-120650" algn="l" rtl="0">
              <a:lnSpc>
                <a:spcPct val="90000"/>
              </a:lnSpc>
              <a:spcBef>
                <a:spcPts val="0"/>
              </a:spcBef>
              <a:spcAft>
                <a:spcPts val="800"/>
              </a:spcAft>
              <a:buSzPts val="1900"/>
              <a:buChar char=" "/>
              <a:defRPr>
                <a:latin typeface="Calibri"/>
              </a:defRPr>
            </a:pPr>
            <a:r>
              <a:rPr b="1" sz="1450">
                <a:solidFill>
                  <a:srgbClr val="1F3864"/>
                </a:solidFill>
                <a:latin typeface="Calibri"/>
              </a:rPr>
              <a:t>• Drinking Water Demand: </a:t>
            </a:r>
            <a:r>
              <a:rPr b="0" sz="1350">
                <a:solidFill>
                  <a:srgbClr val="1E293B"/>
                </a:solidFill>
                <a:latin typeface="Calibri"/>
              </a:rPr>
              <a:t>Rule MAE 3,647.53 L vs Proposed ML 122.44 L (96.6% Error Reduction).</a:t>
            </a:r>
            <a:endParaRPr/>
          </a:p>
          <a:p>
            <a:pPr>
              <a:spcAft>
                <a:spcPts val="800"/>
              </a:spcAft>
              <a:defRPr>
                <a:latin typeface="Calibri"/>
              </a:defRPr>
            </a:pPr>
            <a:r>
              <a:rPr b="1" sz="1450">
                <a:solidFill>
                  <a:srgbClr val="1F3864"/>
                </a:solidFill>
                <a:latin typeface="Calibri"/>
              </a:rPr>
              <a:t>• Food Rations Demand: </a:t>
            </a:r>
            <a:r>
              <a:rPr b="0" sz="1350">
                <a:solidFill>
                  <a:srgbClr val="1E293B"/>
                </a:solidFill>
                <a:latin typeface="Calibri"/>
              </a:rPr>
              <a:t>Rule MAE 1,843.65 vs Proposed ML 92.69 units (95.0% Error Reduction).</a:t>
            </a:r>
          </a:p>
          <a:p>
            <a:pPr>
              <a:spcAft>
                <a:spcPts val="800"/>
              </a:spcAft>
              <a:defRPr>
                <a:latin typeface="Calibri"/>
              </a:defRPr>
            </a:pPr>
            <a:r>
              <a:rPr b="1" sz="1450">
                <a:solidFill>
                  <a:srgbClr val="1F3864"/>
                </a:solidFill>
                <a:latin typeface="Calibri"/>
              </a:rPr>
              <a:t>• Medical Kits Demand: </a:t>
            </a:r>
            <a:r>
              <a:rPr b="0" sz="1350">
                <a:solidFill>
                  <a:srgbClr val="1E293B"/>
                </a:solidFill>
                <a:latin typeface="Calibri"/>
              </a:rPr>
              <a:t>Rule MAE 91.54 vs Proposed ML 10.90 kits (88.1% Error Reduction).</a:t>
            </a:r>
          </a:p>
          <a:p>
            <a:pPr>
              <a:spcAft>
                <a:spcPts val="800"/>
              </a:spcAft>
              <a:defRPr>
                <a:latin typeface="Calibri"/>
              </a:defRPr>
            </a:pPr>
            <a:r>
              <a:rPr b="1" sz="1450">
                <a:solidFill>
                  <a:srgbClr val="1F3864"/>
                </a:solidFill>
                <a:latin typeface="Calibri"/>
              </a:rPr>
              <a:t>• Weather Hazard ROC-AUC: </a:t>
            </a:r>
            <a:r>
              <a:rPr b="0" sz="1350">
                <a:solidFill>
                  <a:srgbClr val="1E293B"/>
                </a:solidFill>
                <a:latin typeface="Calibri"/>
              </a:rPr>
              <a:t>Proposed GBDT: 0.8712 AUC vs Persistence: 0.7138 AUC vs Baseline: 0.5000 AUC.</a:t>
            </a:r>
          </a:p>
          <a:p>
            <a:pPr>
              <a:spcAft>
                <a:spcPts val="800"/>
              </a:spcAft>
              <a:defRPr>
                <a:latin typeface="Calibri"/>
              </a:defRPr>
            </a:pPr>
            <a:r>
              <a:rPr b="1" sz="1450">
                <a:solidFill>
                  <a:srgbClr val="1F3864"/>
                </a:solidFill>
                <a:latin typeface="Calibri"/>
              </a:rPr>
              <a:t>• Weather Hazard Recall: </a:t>
            </a:r>
            <a:r>
              <a:rPr b="0" sz="1350">
                <a:solidFill>
                  <a:srgbClr val="1E293B"/>
                </a:solidFill>
                <a:latin typeface="Calibri"/>
              </a:rPr>
              <a:t>Proposed GBDT: 80.36% vs Persistence: 49.40% vs Baseline: 0.00%.</a:t>
            </a:r>
          </a:p>
          <a:p>
            <a:pPr>
              <a:spcAft>
                <a:spcPts val="800"/>
              </a:spcAft>
              <a:defRPr>
                <a:latin typeface="Calibri"/>
              </a:defRPr>
            </a:pPr>
            <a:r>
              <a:rPr b="1" sz="1450">
                <a:solidFill>
                  <a:srgbClr val="1F3864"/>
                </a:solidFill>
                <a:latin typeface="Calibri"/>
              </a:rPr>
              <a:t>• Key Observation: </a:t>
            </a:r>
            <a:r>
              <a:rPr b="0" sz="1350">
                <a:solidFill>
                  <a:srgbClr val="1E293B"/>
                </a:solidFill>
                <a:latin typeface="Calibri"/>
              </a:rPr>
              <a:t>Proposed ML achieves dramatic error reduction across all metrics while prioritizing life safety.</a:t>
            </a:r>
          </a:p>
        </p:txBody>
      </p:sp>
      <p:pic>
        <p:nvPicPr>
          <p:cNvPr id="201" name="Picture 200" descr="baseline_comparison.png"/>
          <p:cNvPicPr>
            <a:picLocks noChangeAspect="1"/>
          </p:cNvPicPr>
          <p:nvPr/>
        </p:nvPicPr>
        <p:blipFill>
          <a:blip r:embed="rId4"/>
          <a:stretch>
            <a:fillRect/>
          </a:stretch>
        </p:blipFill>
        <p:spPr>
          <a:xfrm>
            <a:off x="6217920" y="1371600"/>
            <a:ext cx="5303520" cy="411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5"/>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6000"/>
              <a:buFont typeface="Calibri"/>
              <a:buNone/>
              <a:defRPr b="1" sz="3200">
                <a:solidFill>
                  <a:srgbClr val="1E3A8A"/>
                </a:solidFill>
                <a:latin typeface="Calibri"/>
              </a:defRPr>
            </a:pPr>
            <a:r>
              <a:t>Training Dynamics: 5-Fold Cross-Validation</a:t>
            </a:r>
            <a:endParaRPr/>
          </a:p>
        </p:txBody>
      </p:sp>
      <p:sp>
        <p:nvSpPr>
          <p:cNvPr id="207" name="Google Shape;207;p15"/>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lnSpcReduction="10000"/>
          </a:bodyPr>
          <a:lstStyle/>
          <a:p>
            <a:pPr marL="91440" lvl="0" indent="-120650" algn="l" rtl="0">
              <a:lnSpc>
                <a:spcPct val="90000"/>
              </a:lnSpc>
              <a:spcBef>
                <a:spcPts val="0"/>
              </a:spcBef>
              <a:spcAft>
                <a:spcPts val="800"/>
              </a:spcAft>
              <a:buSzPts val="1900"/>
              <a:buChar char=" "/>
              <a:defRPr>
                <a:latin typeface="Calibri"/>
              </a:defRPr>
            </a:pPr>
            <a:r>
              <a:rPr b="1" sz="1450">
                <a:solidFill>
                  <a:srgbClr val="1F3864"/>
                </a:solidFill>
                <a:latin typeface="Calibri"/>
              </a:rPr>
              <a:t>• Cross-Validation Protocol: </a:t>
            </a:r>
            <a:r>
              <a:rPr b="0" sz="1350">
                <a:solidFill>
                  <a:srgbClr val="1E293B"/>
                </a:solidFill>
                <a:latin typeface="Calibri"/>
              </a:rPr>
              <a:t>5-fold stratified cross-validation evaluated model stability across chronological and event-based data splits.</a:t>
            </a:r>
            <a:endParaRPr/>
          </a:p>
          <a:p>
            <a:pPr>
              <a:spcAft>
                <a:spcPts val="800"/>
              </a:spcAft>
              <a:defRPr>
                <a:latin typeface="Calibri"/>
              </a:defRPr>
            </a:pPr>
            <a:r>
              <a:rPr b="1" sz="1450">
                <a:solidFill>
                  <a:srgbClr val="1F3864"/>
                </a:solidFill>
                <a:latin typeface="Calibri"/>
              </a:rPr>
              <a:t>• Consistent Fold Discrimination: </a:t>
            </a:r>
            <a:r>
              <a:rPr b="0" sz="1350">
                <a:solidFill>
                  <a:srgbClr val="1E293B"/>
                </a:solidFill>
                <a:latin typeface="Calibri"/>
              </a:rPr>
              <a:t>Gradient Boosted weather model achieved consistent ROC-AUC across all five partitions.</a:t>
            </a:r>
          </a:p>
          <a:p>
            <a:pPr>
              <a:spcAft>
                <a:spcPts val="800"/>
              </a:spcAft>
              <a:defRPr>
                <a:latin typeface="Calibri"/>
              </a:defRPr>
            </a:pPr>
            <a:r>
              <a:rPr b="1" sz="1450">
                <a:solidFill>
                  <a:srgbClr val="1F3864"/>
                </a:solidFill>
                <a:latin typeface="Calibri"/>
              </a:rPr>
              <a:t>• Fold-Wise ROC-AUC Scores: </a:t>
            </a:r>
            <a:r>
              <a:rPr b="0" sz="1350">
                <a:solidFill>
                  <a:srgbClr val="1E293B"/>
                </a:solidFill>
                <a:latin typeface="Calibri"/>
              </a:rPr>
              <a:t>Fold 1: 0.862 | Fold 2: 0.884 | Fold 3: 0.871 | Fold 4: 0.855 | Fold 5: 0.884.</a:t>
            </a:r>
          </a:p>
          <a:p>
            <a:pPr>
              <a:spcAft>
                <a:spcPts val="800"/>
              </a:spcAft>
              <a:defRPr>
                <a:latin typeface="Calibri"/>
              </a:defRPr>
            </a:pPr>
            <a:r>
              <a:rPr b="1" sz="1450">
                <a:solidFill>
                  <a:srgbClr val="1F3864"/>
                </a:solidFill>
                <a:latin typeface="Calibri"/>
              </a:rPr>
              <a:t>• Summary Statistics: </a:t>
            </a:r>
            <a:r>
              <a:rPr b="0" sz="1350">
                <a:solidFill>
                  <a:srgbClr val="1E293B"/>
                </a:solidFill>
                <a:latin typeface="Calibri"/>
              </a:rPr>
              <a:t>Mean ROC-AUC: 0.871 +/- 0.012 with no fold scoring below 0.85.</a:t>
            </a:r>
          </a:p>
          <a:p>
            <a:pPr>
              <a:spcAft>
                <a:spcPts val="800"/>
              </a:spcAft>
              <a:defRPr>
                <a:latin typeface="Calibri"/>
              </a:defRPr>
            </a:pPr>
            <a:r>
              <a:rPr b="1" sz="1450">
                <a:solidFill>
                  <a:srgbClr val="1F3864"/>
                </a:solidFill>
                <a:latin typeface="Calibri"/>
              </a:rPr>
              <a:t>• GroupKFold Generalization: </a:t>
            </a:r>
            <a:r>
              <a:rPr b="0" sz="1350">
                <a:solidFill>
                  <a:srgbClr val="1E293B"/>
                </a:solidFill>
                <a:latin typeface="Calibri"/>
              </a:rPr>
              <a:t>Relief demand models verified generalization across distinct historical flood profiles without data leakage.</a:t>
            </a:r>
          </a:p>
        </p:txBody>
      </p:sp>
      <p:pic>
        <p:nvPicPr>
          <p:cNvPr id="208" name="Picture 207" descr="cross_validation_roc.png"/>
          <p:cNvPicPr>
            <a:picLocks noChangeAspect="1"/>
          </p:cNvPicPr>
          <p:nvPr/>
        </p:nvPicPr>
        <p:blipFill>
          <a:blip r:embed="rId4"/>
          <a:stretch>
            <a:fillRect/>
          </a:stretch>
        </p:blipFill>
        <p:spPr>
          <a:xfrm>
            <a:off x="6217920" y="1371600"/>
            <a:ext cx="5303520" cy="411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Prediction Accuracy</a:t>
            </a:r>
            <a:endParaRPr sz="6000" b="1">
              <a:solidFill>
                <a:schemeClr val="dk1"/>
              </a:solidFill>
            </a:endParaRPr>
          </a:p>
        </p:txBody>
      </p:sp>
      <p:sp>
        <p:nvSpPr>
          <p:cNvPr id="214" name="Google Shape;214;p16"/>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fontScale="92500" lnSpcReduction="20000"/>
          </a:bodyPr>
          <a:lstStyle/>
          <a:p>
            <a:pPr marL="91440" lvl="0" indent="-127000" algn="l" rtl="0">
              <a:lnSpc>
                <a:spcPct val="90000"/>
              </a:lnSpc>
              <a:spcBef>
                <a:spcPts val="0"/>
              </a:spcBef>
              <a:spcAft>
                <a:spcPts val="800"/>
              </a:spcAft>
              <a:buSzPts val="2000"/>
              <a:buChar char=" "/>
              <a:defRPr>
                <a:latin typeface="Calibri"/>
              </a:defRPr>
            </a:pPr>
            <a:r>
              <a:rPr b="1" sz="1450">
                <a:solidFill>
                  <a:srgbClr val="1F3864"/>
                </a:solidFill>
                <a:latin typeface="Calibri"/>
              </a:rPr>
              <a:t>• ROC-AUC Score: </a:t>
            </a:r>
            <a:r>
              <a:rPr b="0" sz="1350">
                <a:solidFill>
                  <a:srgbClr val="1E293B"/>
                </a:solidFill>
                <a:latin typeface="Calibri"/>
              </a:rPr>
              <a:t>87.12% on held-out test data (2022-2025).</a:t>
            </a:r>
            <a:endParaRPr/>
          </a:p>
          <a:p>
            <a:pPr>
              <a:spcAft>
                <a:spcPts val="800"/>
              </a:spcAft>
              <a:defRPr>
                <a:latin typeface="Calibri"/>
              </a:defRPr>
            </a:pPr>
            <a:r>
              <a:rPr b="1" sz="1450">
                <a:solidFill>
                  <a:srgbClr val="1F3864"/>
                </a:solidFill>
                <a:latin typeface="Calibri"/>
              </a:rPr>
              <a:t>• Balanced Accuracy: </a:t>
            </a:r>
            <a:r>
              <a:rPr b="0" sz="1350">
                <a:solidFill>
                  <a:srgbClr val="1E293B"/>
                </a:solidFill>
                <a:latin typeface="Calibri"/>
              </a:rPr>
              <a:t>78.62% across imbalanced rainfall classes.</a:t>
            </a:r>
          </a:p>
          <a:p>
            <a:pPr>
              <a:spcAft>
                <a:spcPts val="800"/>
              </a:spcAft>
              <a:defRPr>
                <a:latin typeface="Calibri"/>
              </a:defRPr>
            </a:pPr>
            <a:r>
              <a:rPr b="1" sz="1450">
                <a:solidFill>
                  <a:srgbClr val="1F3864"/>
                </a:solidFill>
                <a:latin typeface="Calibri"/>
              </a:rPr>
              <a:t>• Sensitivity / Recall: </a:t>
            </a:r>
            <a:r>
              <a:rPr b="0" sz="1350">
                <a:solidFill>
                  <a:srgbClr val="1E293B"/>
                </a:solidFill>
                <a:latin typeface="Calibri"/>
              </a:rPr>
              <a:t>80.36% (Correctly detected 135 of 168 elevated rainfall days).</a:t>
            </a:r>
          </a:p>
          <a:p>
            <a:pPr>
              <a:spcAft>
                <a:spcPts val="800"/>
              </a:spcAft>
              <a:defRPr>
                <a:latin typeface="Calibri"/>
              </a:defRPr>
            </a:pPr>
            <a:r>
              <a:rPr b="1" sz="1450">
                <a:solidFill>
                  <a:srgbClr val="1F3864"/>
                </a:solidFill>
                <a:latin typeface="Calibri"/>
              </a:rPr>
              <a:t>• Raw Test Accuracy: </a:t>
            </a:r>
            <a:r>
              <a:rPr b="0" sz="1350">
                <a:solidFill>
                  <a:srgbClr val="1E293B"/>
                </a:solidFill>
                <a:latin typeface="Calibri"/>
              </a:rPr>
              <a:t>77.28% on chronological test partition.</a:t>
            </a:r>
          </a:p>
          <a:p>
            <a:pPr>
              <a:spcAft>
                <a:spcPts val="800"/>
              </a:spcAft>
              <a:defRPr>
                <a:latin typeface="Calibri"/>
              </a:defRPr>
            </a:pPr>
            <a:r>
              <a:rPr b="1" sz="1450">
                <a:solidFill>
                  <a:srgbClr val="1F3864"/>
                </a:solidFill>
                <a:latin typeface="Calibri"/>
              </a:rPr>
              <a:t>• Precision: </a:t>
            </a:r>
            <a:r>
              <a:rPr b="0" sz="1350">
                <a:solidFill>
                  <a:srgbClr val="1E293B"/>
                </a:solidFill>
                <a:latin typeface="Calibri"/>
              </a:rPr>
              <a:t>31.11% (Reflects conservative, safety-first thresholding).</a:t>
            </a:r>
          </a:p>
          <a:p>
            <a:pPr>
              <a:spcAft>
                <a:spcPts val="800"/>
              </a:spcAft>
              <a:defRPr>
                <a:latin typeface="Calibri"/>
              </a:defRPr>
            </a:pPr>
            <a:r>
              <a:rPr b="1" sz="1450">
                <a:solidFill>
                  <a:srgbClr val="1F3864"/>
                </a:solidFill>
                <a:latin typeface="Calibri"/>
              </a:rPr>
              <a:t>• F1-Score: </a:t>
            </a:r>
            <a:r>
              <a:rPr b="0" sz="1350">
                <a:solidFill>
                  <a:srgbClr val="1E293B"/>
                </a:solidFill>
                <a:latin typeface="Calibri"/>
              </a:rPr>
              <a:t>44.85% (Substantial improvement over zero baseline).</a:t>
            </a:r>
          </a:p>
          <a:p>
            <a:pPr>
              <a:spcAft>
                <a:spcPts val="800"/>
              </a:spcAft>
              <a:defRPr>
                <a:latin typeface="Calibri"/>
              </a:defRPr>
            </a:pPr>
            <a:r>
              <a:rPr b="1" sz="1450">
                <a:solidFill>
                  <a:srgbClr val="1F3864"/>
                </a:solidFill>
                <a:latin typeface="Calibri"/>
              </a:rPr>
              <a:t>• Operational Summary: </a:t>
            </a:r>
            <a:r>
              <a:rPr b="0" sz="1350">
                <a:solidFill>
                  <a:srgbClr val="1E293B"/>
                </a:solidFill>
                <a:latin typeface="Calibri"/>
              </a:rPr>
              <a:t>The model demonstrates strong discriminative capability for early flood warning with minimal missed alarms.</a:t>
            </a:r>
          </a:p>
        </p:txBody>
      </p:sp>
      <p:pic>
        <p:nvPicPr>
          <p:cNvPr id="215" name="Picture 214" descr="prediction_accuracy.png"/>
          <p:cNvPicPr>
            <a:picLocks noChangeAspect="1"/>
          </p:cNvPicPr>
          <p:nvPr/>
        </p:nvPicPr>
        <p:blipFill>
          <a:blip r:embed="rId4"/>
          <a:stretch>
            <a:fillRect/>
          </a:stretch>
        </p:blipFill>
        <p:spPr>
          <a:xfrm>
            <a:off x="6217920" y="1371600"/>
            <a:ext cx="5303520" cy="4114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7"/>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Graph Insights &amp; Confusion Matrix Analysis</a:t>
            </a:r>
            <a:endParaRPr/>
          </a:p>
        </p:txBody>
      </p:sp>
      <p:sp>
        <p:nvSpPr>
          <p:cNvPr id="221" name="Google Shape;221;p17"/>
          <p:cNvSpPr txBox="1">
            <a:spLocks noGrp="1"/>
          </p:cNvSpPr>
          <p:nvPr>
            <p:ph type="body" idx="1"/>
          </p:nvPr>
        </p:nvSpPr>
        <p:spPr>
          <a:xfrm>
            <a:off x="822960" y="1371600"/>
            <a:ext cx="5120640" cy="4297680"/>
          </a:xfrm>
          <a:prstGeom prst="rect">
            <a:avLst/>
          </a:prstGeom>
          <a:noFill/>
          <a:ln>
            <a:noFill/>
          </a:ln>
        </p:spPr>
        <p:txBody>
          <a:bodyPr spcFirstLastPara="1" wrap="square" lIns="91425" tIns="45700" rIns="91425" bIns="45700" anchor="t" anchorCtr="0">
            <a:normAutofit fontScale="85000" lnSpcReduction="20000"/>
          </a:bodyPr>
          <a:lstStyle/>
          <a:p>
            <a:pPr marL="91440" lvl="0" indent="-97155" algn="l" rtl="0">
              <a:lnSpc>
                <a:spcPct val="90000"/>
              </a:lnSpc>
              <a:spcBef>
                <a:spcPts val="0"/>
              </a:spcBef>
              <a:spcAft>
                <a:spcPts val="800"/>
              </a:spcAft>
              <a:buSzPct val="100000"/>
              <a:buChar char=" "/>
              <a:defRPr>
                <a:latin typeface="Calibri"/>
              </a:defRPr>
            </a:pPr>
            <a:r>
              <a:rPr b="1" sz="1450">
                <a:solidFill>
                  <a:srgbClr val="1F3864"/>
                </a:solidFill>
                <a:latin typeface="Calibri"/>
              </a:rPr>
              <a:t>• Figure 1 (Model Benchmark): </a:t>
            </a:r>
            <a:r>
              <a:rPr b="0" sz="1350">
                <a:solidFill>
                  <a:srgbClr val="1E293B"/>
                </a:solidFill>
                <a:latin typeface="Calibri"/>
              </a:rPr>
              <a:t>GBDT dominates persistence in Recall (80.4% vs 49.4%) and ROC-AUC (0.871 vs 0.714).</a:t>
            </a:r>
            <a:endParaRPr/>
          </a:p>
          <a:p>
            <a:pPr>
              <a:spcAft>
                <a:spcPts val="800"/>
              </a:spcAft>
              <a:defRPr>
                <a:latin typeface="Calibri"/>
              </a:defRPr>
            </a:pPr>
            <a:r>
              <a:rPr b="1" sz="1450">
                <a:solidFill>
                  <a:srgbClr val="1F3864"/>
                </a:solidFill>
                <a:latin typeface="Calibri"/>
              </a:rPr>
              <a:t>• Figure 2 (Confusion Matrix): </a:t>
            </a:r>
            <a:r>
              <a:rPr b="0" sz="1350">
                <a:solidFill>
                  <a:srgbClr val="1E293B"/>
                </a:solidFill>
                <a:latin typeface="Calibri"/>
              </a:rPr>
              <a:t>994 true negatives, 135 true positives, and only 33 false negatives over 4 test years.</a:t>
            </a:r>
          </a:p>
          <a:p>
            <a:pPr>
              <a:spcAft>
                <a:spcPts val="800"/>
              </a:spcAft>
              <a:defRPr>
                <a:latin typeface="Calibri"/>
              </a:defRPr>
            </a:pPr>
            <a:r>
              <a:rPr b="1" sz="1450">
                <a:solidFill>
                  <a:srgbClr val="1F3864"/>
                </a:solidFill>
                <a:latin typeface="Calibri"/>
              </a:rPr>
              <a:t>• Life-Safety Priority: </a:t>
            </a:r>
            <a:r>
              <a:rPr b="0" sz="1350">
                <a:solidFill>
                  <a:srgbClr val="1E293B"/>
                </a:solidFill>
                <a:latin typeface="Calibri"/>
              </a:rPr>
              <a:t>The 80.4% recall ensures timely disaster mobilization with minimal missed hazardous events.</a:t>
            </a:r>
          </a:p>
          <a:p>
            <a:pPr>
              <a:spcAft>
                <a:spcPts val="800"/>
              </a:spcAft>
              <a:defRPr>
                <a:latin typeface="Calibri"/>
              </a:defRPr>
            </a:pPr>
            <a:r>
              <a:rPr b="1" sz="1450">
                <a:solidFill>
                  <a:srgbClr val="1F3864"/>
                </a:solidFill>
                <a:latin typeface="Calibri"/>
              </a:rPr>
              <a:t>• Feature Importance Drivers: </a:t>
            </a:r>
            <a:r>
              <a:rPr b="0" sz="1350">
                <a:solidFill>
                  <a:srgbClr val="1E293B"/>
                </a:solidFill>
                <a:latin typeface="Calibri"/>
              </a:rPr>
              <a:t>Preceding 7-day cumulative precipitation and relative humidity were identified as primary predictors.</a:t>
            </a:r>
          </a:p>
          <a:p>
            <a:pPr>
              <a:spcAft>
                <a:spcPts val="800"/>
              </a:spcAft>
              <a:defRPr>
                <a:latin typeface="Calibri"/>
              </a:defRPr>
            </a:pPr>
            <a:r>
              <a:rPr b="1" sz="1450">
                <a:solidFill>
                  <a:srgbClr val="1F3864"/>
                </a:solidFill>
                <a:latin typeface="Calibri"/>
              </a:rPr>
              <a:t>• Conformal Interval Stability: </a:t>
            </a:r>
            <a:r>
              <a:rPr b="0" sz="1350">
                <a:solidFill>
                  <a:srgbClr val="1E293B"/>
                </a:solidFill>
                <a:latin typeface="Calibri"/>
              </a:rPr>
              <a:t>Uncertainty intervals maintain narrow, usable bounds across diverse scenario severities.</a:t>
            </a:r>
          </a:p>
        </p:txBody>
      </p:sp>
      <p:pic>
        <p:nvPicPr>
          <p:cNvPr id="222" name="Picture 221" descr="confusion_matrix.png"/>
          <p:cNvPicPr>
            <a:picLocks noChangeAspect="1"/>
          </p:cNvPicPr>
          <p:nvPr/>
        </p:nvPicPr>
        <p:blipFill>
          <a:blip r:embed="rId5"/>
          <a:stretch>
            <a:fillRect/>
          </a:stretch>
        </p:blipFill>
        <p:spPr>
          <a:xfrm>
            <a:off x="6217920" y="1371600"/>
            <a:ext cx="4754880" cy="4114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8"/>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Discussion</a:t>
            </a:r>
            <a:endParaRPr sz="6000" b="1">
              <a:solidFill>
                <a:schemeClr val="dk1"/>
              </a:solidFill>
            </a:endParaRPr>
          </a:p>
        </p:txBody>
      </p:sp>
      <p:sp>
        <p:nvSpPr>
          <p:cNvPr id="229" name="Google Shape;229;p18"/>
          <p:cNvSpPr txBox="1">
            <a:spLocks noGrp="1"/>
          </p:cNvSpPr>
          <p:nvPr>
            <p:ph type="body" idx="1"/>
          </p:nvPr>
        </p:nvSpPr>
        <p:spPr>
          <a:xfrm>
            <a:off x="822960" y="1371600"/>
            <a:ext cx="10515600" cy="4297680"/>
          </a:xfrm>
          <a:prstGeom prst="rect">
            <a:avLst/>
          </a:prstGeom>
          <a:noFill/>
          <a:ln>
            <a:noFill/>
          </a:ln>
        </p:spPr>
        <p:txBody>
          <a:bodyPr spcFirstLastPara="1" wrap="square" lIns="91425" tIns="45700" rIns="91425" bIns="45700" anchor="t" anchorCtr="0">
            <a:normAutofit fontScale="92500" lnSpcReduction="20000"/>
          </a:bodyPr>
          <a:lstStyle/>
          <a:p>
            <a:pPr marL="91440" lvl="0" indent="-127000" algn="l" rtl="0">
              <a:lnSpc>
                <a:spcPct val="90000"/>
              </a:lnSpc>
              <a:spcBef>
                <a:spcPts val="0"/>
              </a:spcBef>
              <a:spcAft>
                <a:spcPts val="200"/>
              </a:spcAft>
              <a:buSzPts val="2000"/>
              <a:buChar char=" "/>
              <a:defRPr b="1" sz="1600">
                <a:solidFill>
                  <a:srgbClr val="1F3864"/>
                </a:solidFill>
                <a:latin typeface="Calibri"/>
              </a:defRPr>
            </a:pPr>
            <a:r>
              <a:t>Integrated Cross-Domain Architecture</a:t>
            </a:r>
            <a:endParaRPr/>
          </a:p>
          <a:p>
            <a:pPr>
              <a:spcAft>
                <a:spcPts val="400"/>
              </a:spcAft>
              <a:defRPr b="0" sz="1400">
                <a:solidFill>
                  <a:srgbClr val="1E293B"/>
                </a:solidFill>
                <a:latin typeface="Calibri"/>
              </a:defRPr>
            </a:pPr>
            <a:r>
              <a:t>Bridges atmospheric reanalysis, spatio-temporal inundation dynamics, operations research, and graph algorithms into a unified platform.</a:t>
            </a:r>
          </a:p>
          <a:p>
            <a:pPr>
              <a:spcBef>
                <a:spcPts val="600"/>
              </a:spcBef>
              <a:spcAft>
                <a:spcPts val="200"/>
              </a:spcAft>
              <a:defRPr b="1" sz="1600">
                <a:solidFill>
                  <a:srgbClr val="1F3864"/>
                </a:solidFill>
                <a:latin typeface="Calibri"/>
              </a:defRPr>
            </a:pPr>
            <a:r>
              <a:t>Life-Safety First Optimization</a:t>
            </a:r>
          </a:p>
          <a:p>
            <a:pPr>
              <a:spcAft>
                <a:spcPts val="400"/>
              </a:spcAft>
              <a:defRPr b="0" sz="1400">
                <a:solidFill>
                  <a:srgbClr val="1E293B"/>
                </a:solidFill>
                <a:latin typeface="Calibri"/>
              </a:defRPr>
            </a:pPr>
            <a:r>
              <a:t>Calibrating models for high recall (80.4%) and providing conformal 90% upper bounds prevents shelter supply shortages during extreme rainfall surges.</a:t>
            </a:r>
          </a:p>
          <a:p>
            <a:pPr>
              <a:spcBef>
                <a:spcPts val="600"/>
              </a:spcBef>
              <a:spcAft>
                <a:spcPts val="200"/>
              </a:spcAft>
              <a:defRPr b="1" sz="1600">
                <a:solidFill>
                  <a:srgbClr val="1F3864"/>
                </a:solidFill>
                <a:latin typeface="Calibri"/>
              </a:defRPr>
            </a:pPr>
            <a:r>
              <a:t>Provable Stock Conservation</a:t>
            </a:r>
          </a:p>
          <a:p>
            <a:pPr>
              <a:spcAft>
                <a:spcPts val="400"/>
              </a:spcAft>
              <a:defRPr b="0" sz="1400">
                <a:solidFill>
                  <a:srgbClr val="1E293B"/>
                </a:solidFill>
                <a:latin typeface="Calibri"/>
              </a:defRPr>
            </a:pPr>
            <a:r>
              <a:t>Google OR-Tools GLOP solver ensures allocations never exceed depot inventory; atomic transaction rollback prevents corrupted ledger states on network disruptions.</a:t>
            </a:r>
          </a:p>
          <a:p>
            <a:pPr>
              <a:spcBef>
                <a:spcPts val="600"/>
              </a:spcBef>
              <a:spcAft>
                <a:spcPts val="200"/>
              </a:spcAft>
              <a:defRPr b="1" sz="1600">
                <a:solidFill>
                  <a:srgbClr val="1F3864"/>
                </a:solidFill>
                <a:latin typeface="Calibri"/>
              </a:defRPr>
            </a:pPr>
            <a:r>
              <a:t>Sub-Second Real-Time Responsiveness</a:t>
            </a:r>
          </a:p>
          <a:p>
            <a:pPr>
              <a:spcAft>
                <a:spcPts val="400"/>
              </a:spcAft>
              <a:defRPr b="0" sz="1400">
                <a:solidFill>
                  <a:srgbClr val="1E293B"/>
                </a:solidFill>
                <a:latin typeface="Calibri"/>
              </a:defRPr>
            </a:pPr>
            <a:r>
              <a:t>Pure-Python graph algorithms and lightweight JSON tree traversal compute complete multi-step simulations in &lt;0.45s, facilitating live interactive examiner demonstrations.</a:t>
            </a:r>
          </a:p>
          <a:p>
            <a:pPr>
              <a:spcBef>
                <a:spcPts val="600"/>
              </a:spcBef>
              <a:spcAft>
                <a:spcPts val="200"/>
              </a:spcAft>
              <a:defRPr b="1" sz="1600">
                <a:solidFill>
                  <a:srgbClr val="1F3864"/>
                </a:solidFill>
                <a:latin typeface="Calibri"/>
              </a:defRPr>
            </a:pPr>
            <a:r>
              <a:t>Transparent Scientific Boundaries</a:t>
            </a:r>
          </a:p>
          <a:p>
            <a:pPr>
              <a:spcAft>
                <a:spcPts val="400"/>
              </a:spcAft>
              <a:defRPr b="0" sz="1400">
                <a:solidFill>
                  <a:srgbClr val="1E293B"/>
                </a:solidFill>
                <a:latin typeface="Calibri"/>
              </a:defRPr>
            </a:pPr>
            <a:r>
              <a:t>Explicitly acknowledges synthetic demand labels and simplified road geometry while establishing a reproducible foundation for future hydraulic coupling.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9"/>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Conclusion</a:t>
            </a:r>
            <a:endParaRPr sz="6000" b="1">
              <a:solidFill>
                <a:schemeClr val="dk1"/>
              </a:solidFill>
            </a:endParaRPr>
          </a:p>
        </p:txBody>
      </p:sp>
      <p:sp>
        <p:nvSpPr>
          <p:cNvPr id="235" name="Google Shape;235;p19"/>
          <p:cNvSpPr txBox="1">
            <a:spLocks noGrp="1"/>
          </p:cNvSpPr>
          <p:nvPr>
            <p:ph type="body" idx="1"/>
          </p:nvPr>
        </p:nvSpPr>
        <p:spPr>
          <a:xfrm>
            <a:off x="822960" y="1371600"/>
            <a:ext cx="10515600" cy="4297680"/>
          </a:xfrm>
          <a:prstGeom prst="rect">
            <a:avLst/>
          </a:prstGeom>
          <a:noFill/>
          <a:ln>
            <a:noFill/>
          </a:ln>
        </p:spPr>
        <p:txBody>
          <a:bodyPr spcFirstLastPara="1" wrap="square" lIns="91425" tIns="45700" rIns="91425" bIns="45700" anchor="t" anchorCtr="0">
            <a:normAutofit fontScale="77500" lnSpcReduction="20000"/>
          </a:bodyPr>
          <a:lstStyle/>
          <a:p>
            <a:pPr marL="91440" lvl="0" indent="-127000" algn="l" rtl="0">
              <a:lnSpc>
                <a:spcPct val="90000"/>
              </a:lnSpc>
              <a:spcBef>
                <a:spcPts val="0"/>
              </a:spcBef>
              <a:spcAft>
                <a:spcPts val="200"/>
              </a:spcAft>
              <a:buSzPts val="2000"/>
              <a:buChar char=" "/>
              <a:defRPr b="1" sz="1600">
                <a:solidFill>
                  <a:srgbClr val="1F3864"/>
                </a:solidFill>
                <a:latin typeface="Calibri"/>
              </a:defRPr>
            </a:pPr>
            <a:r>
              <a:t>High-Performance Hazard Prediction</a:t>
            </a:r>
            <a:endParaRPr/>
          </a:p>
          <a:p>
            <a:pPr>
              <a:spcAft>
                <a:spcPts val="400"/>
              </a:spcAft>
              <a:defRPr b="0" sz="1400">
                <a:solidFill>
                  <a:srgbClr val="1E293B"/>
                </a:solidFill>
                <a:latin typeface="Calibri"/>
              </a:defRPr>
            </a:pPr>
            <a:r>
              <a:t>Developed and verified a 180-tree GBDT model achieving 87.12% ROC-AUC and 80.36% recall on 4 years of untouched NASA weather reanalysis.</a:t>
            </a:r>
          </a:p>
          <a:p>
            <a:pPr>
              <a:spcBef>
                <a:spcPts val="600"/>
              </a:spcBef>
              <a:spcAft>
                <a:spcPts val="200"/>
              </a:spcAft>
              <a:defRPr b="1" sz="1600">
                <a:solidFill>
                  <a:srgbClr val="1F3864"/>
                </a:solidFill>
                <a:latin typeface="Calibri"/>
              </a:defRPr>
            </a:pPr>
            <a:r>
              <a:t>Significant Relief Error Reduction</a:t>
            </a:r>
          </a:p>
          <a:p>
            <a:pPr>
              <a:spcAft>
                <a:spcPts val="400"/>
              </a:spcAft>
              <a:defRPr b="0" sz="1400">
                <a:solidFill>
                  <a:srgbClr val="1E293B"/>
                </a:solidFill>
                <a:latin typeface="Calibri"/>
              </a:defRPr>
            </a:pPr>
            <a:r>
              <a:t>Extra Trees + Ridge ensemble reduces demand prediction MAE by 88.1% to 96.6% compared to traditional planning rules, backed by nominal 90% conformal intervals.</a:t>
            </a:r>
          </a:p>
          <a:p>
            <a:pPr>
              <a:spcBef>
                <a:spcPts val="600"/>
              </a:spcBef>
              <a:spcAft>
                <a:spcPts val="200"/>
              </a:spcAft>
              <a:defRPr b="1" sz="1600">
                <a:solidFill>
                  <a:srgbClr val="1F3864"/>
                </a:solidFill>
                <a:latin typeface="Calibri"/>
              </a:defRPr>
            </a:pPr>
            <a:r>
              <a:t>Dynamic Flood-Avoidant Routing</a:t>
            </a:r>
          </a:p>
          <a:p>
            <a:pPr>
              <a:spcAft>
                <a:spcPts val="400"/>
              </a:spcAft>
              <a:defRPr b="0" sz="1400">
                <a:solidFill>
                  <a:srgbClr val="1E293B"/>
                </a:solidFill>
                <a:latin typeface="Calibri"/>
              </a:defRPr>
            </a:pPr>
            <a:r>
              <a:t>Implemented dynamic NetworkX graph routing that automatically isolates submerged corridors (&gt;=0.30m trucks, &gt;=0.50m pedestrians) and coordinates multi-modal rescue fleets.</a:t>
            </a:r>
          </a:p>
          <a:p>
            <a:pPr>
              <a:spcBef>
                <a:spcPts val="600"/>
              </a:spcBef>
              <a:spcAft>
                <a:spcPts val="200"/>
              </a:spcAft>
              <a:defRPr b="1" sz="1600">
                <a:solidFill>
                  <a:srgbClr val="1F3864"/>
                </a:solidFill>
                <a:latin typeface="Calibri"/>
              </a:defRPr>
            </a:pPr>
            <a:r>
              <a:t>Mathematically Optimal Allocation</a:t>
            </a:r>
          </a:p>
          <a:p>
            <a:pPr>
              <a:spcAft>
                <a:spcPts val="400"/>
              </a:spcAft>
              <a:defRPr b="0" sz="1400">
                <a:solidFill>
                  <a:srgbClr val="1E293B"/>
                </a:solidFill>
                <a:latin typeface="Calibri"/>
              </a:defRPr>
            </a:pPr>
            <a:r>
              <a:t>Google OR-Tools GLOP solver guarantees equitable, capacity-compliant shelter and supply distribution with strict stock conservation.</a:t>
            </a:r>
          </a:p>
          <a:p>
            <a:pPr>
              <a:spcBef>
                <a:spcPts val="600"/>
              </a:spcBef>
              <a:spcAft>
                <a:spcPts val="200"/>
              </a:spcAft>
              <a:defRPr b="1" sz="1600">
                <a:solidFill>
                  <a:srgbClr val="1F3864"/>
                </a:solidFill>
                <a:latin typeface="Calibri"/>
              </a:defRPr>
            </a:pPr>
            <a:r>
              <a:t>Full-Stack Operational Platform</a:t>
            </a:r>
          </a:p>
          <a:p>
            <a:pPr>
              <a:spcAft>
                <a:spcPts val="400"/>
              </a:spcAft>
              <a:defRPr b="0" sz="1400">
                <a:solidFill>
                  <a:srgbClr val="1E293B"/>
                </a:solidFill>
                <a:latin typeface="Calibri"/>
              </a:defRPr>
            </a:pPr>
            <a:r>
              <a:t>Built an interactive Next.js 14 / FastAPI application featuring a 200-ward GCC atlas, bilingual Tamil/English bulletins, timeline playback, and reproducible exports.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a:spLocks noGrp="1"/>
          </p:cNvSpPr>
          <p:nvPr>
            <p:ph type="title"/>
          </p:nvPr>
        </p:nvSpPr>
        <p:spPr>
          <a:xfrm>
            <a:off x="822960" y="365760"/>
            <a:ext cx="10515600" cy="8229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6000"/>
              <a:buFont typeface="Calibri"/>
              <a:buNone/>
              <a:defRPr b="1" sz="3200">
                <a:solidFill>
                  <a:srgbClr val="1E3A8A"/>
                </a:solidFill>
                <a:latin typeface="Calibri"/>
              </a:defRPr>
            </a:pPr>
            <a:r>
              <a:t>Future Work</a:t>
            </a:r>
            <a:endParaRPr sz="6000" b="1">
              <a:solidFill>
                <a:schemeClr val="dk1"/>
              </a:solidFill>
            </a:endParaRPr>
          </a:p>
        </p:txBody>
      </p:sp>
      <p:sp>
        <p:nvSpPr>
          <p:cNvPr id="241" name="Google Shape;241;p20"/>
          <p:cNvSpPr txBox="1">
            <a:spLocks noGrp="1"/>
          </p:cNvSpPr>
          <p:nvPr>
            <p:ph type="body" idx="1"/>
          </p:nvPr>
        </p:nvSpPr>
        <p:spPr>
          <a:xfrm>
            <a:off x="822960" y="1371600"/>
            <a:ext cx="10515600" cy="4297680"/>
          </a:xfrm>
          <a:prstGeom prst="rect">
            <a:avLst/>
          </a:prstGeom>
          <a:noFill/>
          <a:ln>
            <a:noFill/>
          </a:ln>
        </p:spPr>
        <p:txBody>
          <a:bodyPr spcFirstLastPara="1" wrap="square" lIns="91425" tIns="45700" rIns="91425" bIns="45700" anchor="t" anchorCtr="0">
            <a:noAutofit/>
          </a:bodyPr>
          <a:lstStyle/>
          <a:p>
            <a:pPr marL="91440" lvl="0" indent="-91440" algn="l" rtl="0">
              <a:lnSpc>
                <a:spcPct val="90000"/>
              </a:lnSpc>
              <a:spcBef>
                <a:spcPts val="0"/>
              </a:spcBef>
              <a:spcAft>
                <a:spcPts val="200"/>
              </a:spcAft>
              <a:buSzPts val="1400"/>
              <a:buChar char=" "/>
              <a:defRPr b="1" sz="1600">
                <a:solidFill>
                  <a:srgbClr val="1F3864"/>
                </a:solidFill>
                <a:latin typeface="Calibri"/>
              </a:defRPr>
            </a:pPr>
            <a:r>
              <a:t>Hydrodynamic PDE Integration</a:t>
            </a:r>
            <a:endParaRPr/>
          </a:p>
          <a:p>
            <a:pPr>
              <a:spcAft>
                <a:spcPts val="400"/>
              </a:spcAft>
              <a:defRPr b="0" sz="1400">
                <a:solidFill>
                  <a:srgbClr val="1E293B"/>
                </a:solidFill>
                <a:latin typeface="Calibri"/>
              </a:defRPr>
            </a:pPr>
            <a:r>
              <a:t>Couple 2D shallow water equation solvers (LISFLOOD-FP / SWMM) with high-resolution LiDAR Digital Elevation Models for physics-based flood routing.</a:t>
            </a:r>
          </a:p>
          <a:p>
            <a:pPr>
              <a:spcBef>
                <a:spcPts val="600"/>
              </a:spcBef>
              <a:spcAft>
                <a:spcPts val="200"/>
              </a:spcAft>
              <a:defRPr b="1" sz="1600">
                <a:solidFill>
                  <a:srgbClr val="1F3864"/>
                </a:solidFill>
                <a:latin typeface="Calibri"/>
              </a:defRPr>
            </a:pPr>
            <a:r>
              <a:t>Real-Time IoT Telemetry</a:t>
            </a:r>
          </a:p>
          <a:p>
            <a:pPr>
              <a:spcAft>
                <a:spcPts val="400"/>
              </a:spcAft>
              <a:defRPr b="0" sz="1400">
                <a:solidFill>
                  <a:srgbClr val="1E293B"/>
                </a:solidFill>
                <a:latin typeface="Calibri"/>
              </a:defRPr>
            </a:pPr>
            <a:r>
              <a:t>Integrate live ultrasonic water-level sensors and automatic rain gauges across Adyar and Cooum river basins for continuous automated data feeds.</a:t>
            </a:r>
          </a:p>
          <a:p>
            <a:pPr>
              <a:spcBef>
                <a:spcPts val="600"/>
              </a:spcBef>
              <a:spcAft>
                <a:spcPts val="200"/>
              </a:spcAft>
              <a:defRPr b="1" sz="1600">
                <a:solidFill>
                  <a:srgbClr val="1F3864"/>
                </a:solidFill>
                <a:latin typeface="Calibri"/>
              </a:defRPr>
            </a:pPr>
            <a:r>
              <a:t>Vehicle Routing with Time Windows (VRPTW)</a:t>
            </a:r>
          </a:p>
          <a:p>
            <a:pPr>
              <a:spcAft>
                <a:spcPts val="400"/>
              </a:spcAft>
              <a:defRPr b="0" sz="1400">
                <a:solidFill>
                  <a:srgbClr val="1E293B"/>
                </a:solidFill>
                <a:latin typeface="Calibri"/>
              </a:defRPr>
            </a:pPr>
            <a:r>
              <a:t>Expand OR-Tools logistics to solve multi-vehicle routing with fleet battery/fuel limits, driver shift constraints, and dynamic pickup requests.</a:t>
            </a:r>
          </a:p>
          <a:p>
            <a:pPr>
              <a:spcBef>
                <a:spcPts val="600"/>
              </a:spcBef>
              <a:spcAft>
                <a:spcPts val="200"/>
              </a:spcAft>
              <a:defRPr b="1" sz="1600">
                <a:solidFill>
                  <a:srgbClr val="1F3864"/>
                </a:solidFill>
                <a:latin typeface="Calibri"/>
              </a:defRPr>
            </a:pPr>
            <a:r>
              <a:t>Offline Mobile Edge Deployment</a:t>
            </a:r>
          </a:p>
          <a:p>
            <a:pPr>
              <a:spcAft>
                <a:spcPts val="400"/>
              </a:spcAft>
              <a:defRPr b="0" sz="1400">
                <a:solidFill>
                  <a:srgbClr val="1E293B"/>
                </a:solidFill>
                <a:latin typeface="Calibri"/>
              </a:defRPr>
            </a:pPr>
            <a:r>
              <a:t>Package the lightweight JSON inference runtime into Progressive Web Apps (PWA) and Android offline APKs for frontline disaster responders.</a:t>
            </a:r>
          </a:p>
          <a:p>
            <a:pPr>
              <a:spcBef>
                <a:spcPts val="600"/>
              </a:spcBef>
              <a:spcAft>
                <a:spcPts val="200"/>
              </a:spcAft>
              <a:defRPr b="1" sz="1600">
                <a:solidFill>
                  <a:srgbClr val="1F3864"/>
                </a:solidFill>
                <a:latin typeface="Calibri"/>
              </a:defRPr>
            </a:pPr>
            <a:r>
              <a:t>Empirical Field Validation</a:t>
            </a:r>
          </a:p>
          <a:p>
            <a:pPr>
              <a:spcAft>
                <a:spcPts val="400"/>
              </a:spcAft>
              <a:defRPr b="0" sz="1400">
                <a:solidFill>
                  <a:srgbClr val="1E293B"/>
                </a:solidFill>
                <a:latin typeface="Calibri"/>
              </a:defRPr>
            </a:pPr>
            <a:r>
              <a:t>Partner with Tamil Nadu Disaster Management Authority (TNDMA) for real-world validation against observed flood logistics records.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60834-D1DB-5B6A-3B4C-35F6EBFDC414}"/>
              </a:ext>
            </a:extLst>
          </p:cNvPr>
          <p:cNvSpPr>
            <a:spLocks noGrp="1"/>
          </p:cNvSpPr>
          <p:nvPr>
            <p:ph type="ctrTitle"/>
          </p:nvPr>
        </p:nvSpPr>
        <p:spPr>
          <a:xfrm>
            <a:off x="1371600" y="2011680"/>
            <a:ext cx="9418320" cy="1371600"/>
          </a:xfrm>
        </p:spPr>
        <p:txBody>
          <a:bodyPr wrap="square"/>
          <a:lstStyle/>
          <a:p>
            <a:pPr algn="ctr">
              <a:defRPr b="1" sz="4400">
                <a:solidFill>
                  <a:srgbClr val="1E3A8A"/>
                </a:solidFill>
                <a:latin typeface="Calibri"/>
              </a:defRPr>
            </a:pPr>
            <a:r>
              <a:t>Thank You !!!</a:t>
            </a:r>
            <a:endParaRPr lang="en-IN" b="1" dirty="0">
              <a:solidFill>
                <a:schemeClr val="tx2">
                  <a:lumMod val="10000"/>
                </a:schemeClr>
              </a:solidFill>
            </a:endParaRPr>
          </a:p>
          <a:p>
            <a:pPr algn="ctr">
              <a:spcBef>
                <a:spcPts val="1200"/>
              </a:spcBef>
              <a:defRPr b="1" sz="1800">
                <a:solidFill>
                  <a:srgbClr val="1F3864"/>
                </a:solidFill>
                <a:latin typeface="Calibri"/>
              </a:defRPr>
            </a:pPr>
            <a:r>
              <a:t>AI-Driven Crisis Resource Intelligence &amp; Autonomous Logistics Platform</a:t>
            </a:r>
          </a:p>
          <a:p>
            <a:pPr algn="ctr">
              <a:spcBef>
                <a:spcPts val="600"/>
              </a:spcBef>
              <a:defRPr sz="1500">
                <a:solidFill>
                  <a:srgbClr val="1E293B"/>
                </a:solidFill>
                <a:latin typeface="Calibri"/>
              </a:defRPr>
            </a:pPr>
            <a:r>
              <a:t>Department of Artificial Intelligence &amp; Machine Learning</a:t>
            </a:r>
            <a:br/>
            <a:r>
              <a:t>Panimalar Engineering College, Chennai</a:t>
            </a:r>
          </a:p>
        </p:txBody>
      </p:sp>
    </p:spTree>
    <p:extLst>
      <p:ext uri="{BB962C8B-B14F-4D97-AF65-F5344CB8AC3E}">
        <p14:creationId xmlns:p14="http://schemas.microsoft.com/office/powerpoint/2010/main" val="3796224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60834-D1DB-5B6A-3B4C-35F6EBFDC414}"/>
              </a:ext>
            </a:extLst>
          </p:cNvPr>
          <p:cNvSpPr>
            <a:spLocks noGrp="1"/>
          </p:cNvSpPr>
          <p:nvPr>
            <p:ph type="ctrTitle"/>
          </p:nvPr>
        </p:nvSpPr>
        <p:spPr>
          <a:xfrm>
            <a:off x="1371600" y="2194560"/>
            <a:ext cx="9418320" cy="1371600"/>
          </a:xfrm>
        </p:spPr>
        <p:txBody>
          <a:bodyPr wrap="square"/>
          <a:lstStyle/>
          <a:p>
            <a:pPr algn="ctr">
              <a:defRPr b="1" sz="4400">
                <a:solidFill>
                  <a:srgbClr val="1E3A8A"/>
                </a:solidFill>
                <a:latin typeface="Calibri"/>
              </a:defRPr>
            </a:pPr>
            <a:r>
              <a:t>Queries?</a:t>
            </a:r>
            <a:endParaRPr lang="en-IN" b="1" dirty="0">
              <a:solidFill>
                <a:schemeClr val="tx2">
                  <a:lumMod val="10000"/>
                </a:schemeClr>
              </a:solidFill>
            </a:endParaRPr>
          </a:p>
          <a:p>
            <a:pPr algn="ctr">
              <a:spcBef>
                <a:spcPts val="1200"/>
              </a:spcBef>
              <a:defRPr b="1" sz="1800">
                <a:solidFill>
                  <a:srgbClr val="1F3864"/>
                </a:solidFill>
                <a:latin typeface="Calibri"/>
              </a:defRPr>
            </a:pPr>
            <a:r>
              <a:t>Open for Technical Discussion &amp; Examination</a:t>
            </a:r>
          </a:p>
        </p:txBody>
      </p:sp>
    </p:spTree>
    <p:extLst>
      <p:ext uri="{BB962C8B-B14F-4D97-AF65-F5344CB8AC3E}">
        <p14:creationId xmlns:p14="http://schemas.microsoft.com/office/powerpoint/2010/main" val="3397575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156</TotalTime>
  <Words>2381</Words>
  <Application>Microsoft Office PowerPoint</Application>
  <PresentationFormat>Widescreen</PresentationFormat>
  <Paragraphs>206</Paragraphs>
  <Slides>26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END SEMESTER PROJECT PHASE I- REVIEW</vt:lpstr>
      <vt:lpstr>Abstract</vt:lpstr>
      <vt:lpstr>Motivation</vt:lpstr>
      <vt:lpstr>Literature Survey  </vt:lpstr>
      <vt:lpstr>Literature Survey  </vt:lpstr>
      <vt:lpstr>Disadvantages of Existing System</vt:lpstr>
      <vt:lpstr>Proposed System</vt:lpstr>
      <vt:lpstr>Goal</vt:lpstr>
      <vt:lpstr>Architectural Diagram</vt:lpstr>
      <vt:lpstr>PowerPoint Presentation</vt:lpstr>
      <vt:lpstr>Modules — Explanation of Architectural Diagram</vt:lpstr>
      <vt:lpstr>DATASET STATISTICS</vt:lpstr>
      <vt:lpstr> MODEL EVALUATION</vt:lpstr>
      <vt:lpstr>CONFIDENCE CALIBRATION AND EXPLAINABILITY</vt:lpstr>
      <vt:lpstr>WHY RANDOM FOREST?</vt:lpstr>
      <vt:lpstr>CardioShield Architecture Overview</vt:lpstr>
      <vt:lpstr>Architecture Flow</vt:lpstr>
      <vt:lpstr>Baseline Comparison</vt:lpstr>
      <vt:lpstr>Training Dynamics – 5-Fold Cross-Validation</vt:lpstr>
      <vt:lpstr>Prediction Accuracy</vt:lpstr>
      <vt:lpstr>Graph Insights</vt:lpstr>
      <vt:lpstr>Discussion </vt:lpstr>
      <vt:lpstr>Conclusion </vt:lpstr>
      <vt:lpstr>Future Work </vt:lpstr>
      <vt:lpstr>Thank You !!!</vt:lpstr>
      <vt:lpstr>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3</dc:title>
  <dc:creator>KAMLESH J V K</dc:creator>
  <cp:lastModifiedBy>vinothkumar A</cp:lastModifiedBy>
  <cp:revision>54</cp:revision>
  <dcterms:created xsi:type="dcterms:W3CDTF">2024-07-23T16:09:44Z</dcterms:created>
  <dcterms:modified xsi:type="dcterms:W3CDTF">2026-10-21T23:50:37Z</dcterms:modified>
</cp:coreProperties>
</file>