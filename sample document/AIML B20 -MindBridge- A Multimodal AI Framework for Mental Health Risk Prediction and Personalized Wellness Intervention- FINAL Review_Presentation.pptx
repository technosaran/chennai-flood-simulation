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53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71" r:id="rId4"/>
    <p:sldId id="258" r:id="rId5"/>
    <p:sldId id="274" r:id="rId6"/>
    <p:sldId id="259" r:id="rId7"/>
    <p:sldId id="260" r:id="rId8"/>
    <p:sldId id="268" r:id="rId9"/>
    <p:sldId id="263" r:id="rId10"/>
    <p:sldId id="275" r:id="rId11"/>
    <p:sldId id="265" r:id="rId12"/>
    <p:sldId id="276" r:id="rId13"/>
    <p:sldId id="264" r:id="rId14"/>
    <p:sldId id="277" r:id="rId15"/>
    <p:sldId id="266" r:id="rId16"/>
    <p:sldId id="278" r:id="rId17"/>
    <p:sldId id="279" r:id="rId18"/>
    <p:sldId id="269" r:id="rId19"/>
    <p:sldId id="270" r:id="rId20"/>
    <p:sldId id="280" r:id="rId21"/>
    <p:sldId id="272" r:id="rId22"/>
    <p:sldId id="281" r:id="rId23"/>
    <p:sldId id="282" r:id="rId24"/>
    <p:sldId id="283" r:id="rId25"/>
    <p:sldId id="267" r:id="rId26"/>
    <p:sldId id="27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A3BA"/>
    <a:srgbClr val="89CC40"/>
    <a:srgbClr val="9ED5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A96449-4B69-D3AE-83A1-9043D47403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A8B06-378B-2B4B-849A-30F119D693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13E1C-B405-49F3-9988-CF8465A7E408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2CE3A-C768-7FBC-6279-D4561D496C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EF610-7E21-06E6-A16F-90BCB34F72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8B8AB-2486-4E8A-99A9-C90C48436D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8906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91219-8466-4718-8DFA-CB8662D6B5A3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0E104-BD0E-4474-ACFB-55C80E2931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691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D89F8-4583-4C83-B887-E78D4B4D5E4C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94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B5F4F-0E3C-47F3-93BA-9C3E7BB97F9B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91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EAF95-D305-4E0C-A6F1-A279398227B2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85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81649-9AE9-4FD9-889D-5679020A05EE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612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E20D1-3598-4C14-A388-A5F25190D9C1}" type="datetime1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82393-709B-4A81-B301-D4CD4F41859F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184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1AB4-10BC-4867-8EE1-BE730CEF0826}" type="datetime1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05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F21B-A571-4ABF-BC65-018C1FE96140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10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01C9-F7FF-4893-8321-F80FDBBE176C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35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2BA1-397D-4BAC-9783-FFBADF7BB4EA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97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2463E-2EBC-469D-AAF9-CD6E78693B9E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19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D39B2-7F8F-45C4-A8EF-B944B1A8FAAB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1A880-B750-4483-9D3A-6ED98ED51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86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  <p:sldLayoutId id="2147484063" r:id="rId10"/>
    <p:sldLayoutId id="214748406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391F-1AC1-C408-8103-BD89BFDD5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6710" y="2309941"/>
            <a:ext cx="12538710" cy="69550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END SEMESTER PROJECT PHASE I- REVIEW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1F609-AB03-B548-E01F-93E4D6B07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9036" y="3429000"/>
            <a:ext cx="9382403" cy="291465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2">
                    <a:lumMod val="10000"/>
                  </a:schemeClr>
                </a:solidFill>
              </a:rPr>
              <a:t>Project Title: </a:t>
            </a:r>
            <a:r>
              <a:rPr lang="en-US" dirty="0" err="1">
                <a:solidFill>
                  <a:schemeClr val="tx2">
                    <a:lumMod val="10000"/>
                  </a:schemeClr>
                </a:solidFill>
              </a:rPr>
              <a:t>MindBridge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- A Multimodal AI Framework for Mental 	          	        Health Risk Prediction and Personalized Wellness Intervention                                       </a:t>
            </a:r>
          </a:p>
          <a:p>
            <a:pPr algn="l">
              <a:lnSpc>
                <a:spcPct val="110000"/>
              </a:lnSpc>
            </a:pPr>
            <a:r>
              <a:rPr lang="en-US" b="1" dirty="0">
                <a:solidFill>
                  <a:schemeClr val="tx2">
                    <a:lumMod val="10000"/>
                  </a:schemeClr>
                </a:solidFill>
              </a:rPr>
              <a:t>Batch Number: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AIML B20 </a:t>
            </a:r>
            <a:br>
              <a:rPr lang="en-US" dirty="0">
                <a:solidFill>
                  <a:schemeClr val="tx2">
                    <a:lumMod val="1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10000"/>
                  </a:schemeClr>
                </a:solidFill>
              </a:rPr>
              <a:t>Guide Name: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Ms. Derisha Mahil</a:t>
            </a:r>
          </a:p>
          <a:p>
            <a:pPr algn="l"/>
            <a:r>
              <a:rPr lang="en-US" b="1" dirty="0">
                <a:solidFill>
                  <a:schemeClr val="tx2">
                    <a:lumMod val="10000"/>
                  </a:schemeClr>
                </a:solidFill>
              </a:rPr>
              <a:t>Team Members: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Vaishnavi B  (REGISTER NO)</a:t>
            </a:r>
          </a:p>
          <a:p>
            <a:pPr algn="l"/>
            <a:r>
              <a:rPr lang="en-US" b="1" dirty="0">
                <a:solidFill>
                  <a:schemeClr val="tx2">
                    <a:lumMod val="10000"/>
                  </a:schemeClr>
                </a:solidFill>
              </a:rPr>
              <a:t>		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Vijayalakshmi G  (REGISTER NO)</a:t>
            </a:r>
            <a:endParaRPr lang="en-US" b="1" dirty="0">
              <a:solidFill>
                <a:schemeClr val="tx2">
                  <a:lumMod val="10000"/>
                </a:schemeClr>
              </a:solidFill>
            </a:endParaRPr>
          </a:p>
          <a:p>
            <a:pPr algn="l"/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pPr algn="l"/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pPr algn="l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2667D2-B3D4-E017-0586-E80F57F7E3F7}"/>
              </a:ext>
            </a:extLst>
          </p:cNvPr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DD – MM - YYYY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12" y="116347"/>
            <a:ext cx="2543175" cy="857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CD496A-C8C9-31ED-B583-8BA9F0D06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870" y="116347"/>
            <a:ext cx="165735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1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864"/>
                </a:solidFill>
              </a:rPr>
              <a:t>MindBridge: Multimodal Mental Health Prediction Using NLP and Speech Emotion Recognition</a:t>
            </a:r>
          </a:p>
          <a:p>
            <a:endParaRPr lang="en-US" sz="1600" dirty="0"/>
          </a:p>
          <a:p>
            <a:r>
              <a:rPr lang="en-US" sz="1600" dirty="0"/>
              <a:t>Mental health issues — including depression, anxiety, academic stress, and social loneliness — silently affect millions of students, working adults, and senior citizens. Most existing systems rely on single-channel text analysis and treat all users identically, missing the distinct emotional needs of each life stage.</a:t>
            </a:r>
          </a:p>
          <a:p>
            <a:r>
              <a:rPr lang="en-US" sz="1600" dirty="0"/>
              <a:t>MindBridge addresses this gap by combining two AI pipelines: a Natural Language Processing (NLP) channel using MentalBERT for text emotion analysis, and a Speech Emotion Recognition (SER) channel using CNN trained on RAVDESS for voice tone analysis. Both scores are fused using a weighted ensemble (55% text + 45% voice) to produce a single wellness index.</a:t>
            </a:r>
          </a:p>
          <a:p>
            <a:r>
              <a:rPr lang="en-US" sz="1600" dirty="0"/>
              <a:t>The system first identifies the user as a Student, Adult, or Senior Citizen and routes the prediction through a persona-specific model. Output includes a severity level (no-risk / mild / moderate / severe), LIME word-level explainability, and 3 daily wellness activity recommendations — demonstrated through an interactive Streamlit prototype.</a:t>
            </a:r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F3864"/>
                </a:solidFill>
              </a:rPr>
              <a:t>Why This Problem Matters</a:t>
            </a:r>
            <a:endParaRPr lang="en-US" dirty="0"/>
          </a:p>
          <a:p>
            <a:pPr marL="342900" indent="-342900">
              <a:buChar char="•"/>
            </a:pPr>
            <a:r>
              <a:rPr lang="en-US" sz="1400" dirty="0"/>
              <a:t>Students: Exam stress, burnout, peer pressure — warning signs are invisible until a breakdown</a:t>
            </a:r>
          </a:p>
          <a:p>
            <a:pPr marL="342900" indent="-342900">
              <a:buChar char="•"/>
            </a:pPr>
            <a:r>
              <a:rPr lang="en-US" sz="1400" dirty="0"/>
              <a:t>Adults: Career anxiety, relationship breakdowns, financial pressure — masked behind a composed exterior</a:t>
            </a:r>
          </a:p>
          <a:p>
            <a:pPr marL="342900" indent="-342900">
              <a:buChar char="•"/>
            </a:pPr>
            <a:r>
              <a:rPr lang="en-US" sz="1400" dirty="0"/>
              <a:t>Senior Citizens: Post-retirement loneliness, empty nest syndrome — no platform to express emotional distress</a:t>
            </a:r>
            <a:endParaRPr lang="en-US" dirty="0"/>
          </a:p>
          <a:p>
            <a:pPr>
              <a:buNone/>
            </a:pPr>
            <a:r>
              <a:rPr lang="en-US" sz="1600" b="1" dirty="0">
                <a:solidFill>
                  <a:srgbClr val="1F3864"/>
                </a:solidFill>
              </a:rPr>
              <a:t>Why Existing Approaches Fall Short</a:t>
            </a:r>
            <a:endParaRPr lang="en-US" dirty="0"/>
          </a:p>
          <a:p>
            <a:pPr marL="342900" indent="-342900">
              <a:buChar char="•"/>
            </a:pPr>
            <a:r>
              <a:rPr lang="en-US" sz="1400" dirty="0"/>
              <a:t>Text-only models miss what voice reveals — a person can type 'I am fine' while sounding flat and hopeless</a:t>
            </a:r>
          </a:p>
          <a:p>
            <a:pPr marL="342900" indent="-342900">
              <a:buChar char="•"/>
            </a:pPr>
            <a:r>
              <a:rPr lang="en-US" sz="1400" dirty="0"/>
              <a:t>No system segments prediction by life stage — a stressed student needs different support than a lonely retired person</a:t>
            </a:r>
          </a:p>
          <a:p>
            <a:pPr marL="342900" indent="-342900">
              <a:buChar char="•"/>
            </a:pPr>
            <a:r>
              <a:rPr lang="en-US" sz="1400" dirty="0"/>
              <a:t>Generic outputs do not translate into actionable daily guidance for recovery</a:t>
            </a:r>
          </a:p>
          <a:p>
            <a:endParaRPr lang="en-US" dirty="0"/>
          </a:p>
          <a:p>
            <a:pPr>
              <a:buNone/>
            </a:pPr>
            <a:r>
              <a:rPr lang="en-US" sz="1400" b="1" dirty="0">
                <a:solidFill>
                  <a:srgbClr val="1F5C1A"/>
                </a:solidFill>
              </a:rPr>
              <a:t>MindBridge is motivated by the need for an early, multimodal, and human-centered mental wellness detection system.</a:t>
            </a:r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5F42-82D3-0F31-6F94-70F0CEC5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Survey </a:t>
            </a:r>
            <a:br>
              <a:rPr lang="en-IN" dirty="0"/>
            </a:br>
            <a:endParaRPr lang="en-IN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F9937F4C-33E0-0C3C-44A9-5B06D8E5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3</a:t>
            </a:r>
            <a:endParaRPr lang="en-IN" sz="15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34F6A-6555-8FED-F8A0-00B8988585DD}"/>
              </a:ext>
            </a:extLst>
          </p:cNvPr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121791-5FD2-C0C4-5E4A-6BCF3E6FA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68" y="1203751"/>
            <a:ext cx="11316382" cy="48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02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99B7-1959-E65F-3489-8154FA1C4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349-D54F-CC37-4EDA-7015E267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Literature Survey </a:t>
            </a:r>
            <a:br>
              <a:rPr lang="en-IN" dirty="0"/>
            </a:br>
            <a:endParaRPr lang="en-IN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222BC434-C261-56D2-C379-293CB070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4</a:t>
            </a:r>
            <a:endParaRPr lang="en-IN" sz="15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D30DF-A87D-BB7C-9596-B33FC986095A}"/>
              </a:ext>
            </a:extLst>
          </p:cNvPr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CF582-FA41-8392-2BB1-7C591A8C8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66" y="1100055"/>
            <a:ext cx="10946692" cy="729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018F05-3BFF-EF68-9E33-52B465DD6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9431"/>
            <a:ext cx="10946692" cy="404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88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C00000"/>
                </a:solidFill>
              </a:rPr>
              <a:t>Single Modality — Text Only</a:t>
            </a:r>
          </a:p>
          <a:p>
            <a:pPr marL="342900" indent="-342900">
              <a:buChar char="•"/>
            </a:pPr>
            <a:r>
              <a:rPr lang="en-US" sz="1350" dirty="0"/>
              <a:t>Existing systems like MentalBERT and Reddit-based classifiers rely solely on typed text. They cannot detect emotional tone hidden in voice — pitch, energy, speech rate — which are clinically proven mental health indicators.</a:t>
            </a:r>
            <a:endParaRPr lang="en-US" dirty="0"/>
          </a:p>
          <a:p>
            <a:pPr>
              <a:buNone/>
            </a:pPr>
            <a:r>
              <a:rPr lang="en-US" sz="1500" b="1" dirty="0">
                <a:solidFill>
                  <a:srgbClr val="C00000"/>
                </a:solidFill>
              </a:rPr>
              <a:t>No Demographic Awareness</a:t>
            </a:r>
          </a:p>
          <a:p>
            <a:pPr marL="342900" indent="-342900">
              <a:buChar char="•"/>
            </a:pPr>
            <a:r>
              <a:rPr lang="en-US" sz="1350" dirty="0"/>
              <a:t>Systems like MPHI-Trans (Zhang &amp; Li, 2025) target only adolescents. No system segments users into students, adults, and senior citizens with separate trained models and persona-specific outputs.</a:t>
            </a:r>
            <a:endParaRPr lang="en-US" dirty="0"/>
          </a:p>
          <a:p>
            <a:pPr>
              <a:buNone/>
            </a:pPr>
            <a:r>
              <a:rPr lang="en-US" sz="1500" b="1" dirty="0">
                <a:solidFill>
                  <a:srgbClr val="C00000"/>
                </a:solidFill>
              </a:rPr>
              <a:t>Classification Without Intervention</a:t>
            </a:r>
          </a:p>
          <a:p>
            <a:pPr marL="342900" indent="-342900">
              <a:buChar char="•"/>
            </a:pPr>
            <a:r>
              <a:rPr lang="en-US" sz="1350" dirty="0"/>
              <a:t>Existing models output a label (depressed / not depressed) but provide no actionable next step — no daily activities, no recovery guidance, no tailored recommendations.</a:t>
            </a:r>
            <a:endParaRPr lang="en-US" dirty="0"/>
          </a:p>
          <a:p>
            <a:pPr>
              <a:buNone/>
            </a:pPr>
            <a:r>
              <a:rPr lang="en-US" sz="1500" b="1" dirty="0">
                <a:solidFill>
                  <a:srgbClr val="C00000"/>
                </a:solidFill>
              </a:rPr>
              <a:t>No Explainability</a:t>
            </a:r>
          </a:p>
          <a:p>
            <a:pPr marL="342900" indent="-342900">
              <a:buChar char="•"/>
            </a:pPr>
            <a:r>
              <a:rPr lang="en-US" sz="1350" dirty="0"/>
              <a:t>Most systems are black boxes — clinicians and users cannot see why a prediction was made. Without explainability (LIME / SHAP), predictions are not trusted or actionable.</a:t>
            </a:r>
            <a:endParaRPr lang="en-US" dirty="0"/>
          </a:p>
          <a:p>
            <a:pPr>
              <a:buNone/>
            </a:pPr>
            <a:r>
              <a:rPr lang="en-US" sz="1500" b="1" dirty="0">
                <a:solidFill>
                  <a:srgbClr val="C00000"/>
                </a:solidFill>
              </a:rPr>
              <a:t>No Fusion of Text and Voice</a:t>
            </a:r>
          </a:p>
          <a:p>
            <a:pPr marL="342900" indent="-342900">
              <a:buChar char="•"/>
            </a:pPr>
            <a:r>
              <a:rPr lang="en-US" sz="1350" dirty="0"/>
              <a:t>Voice disagrees with text in real distress — none of the reviewed papers combine NLP text scores and speech emotion scores into a weighted fusion for mental health specifically.</a:t>
            </a:r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1F3864"/>
                </a:solidFill>
              </a:rPr>
              <a:t>MindBridge — A Multimodal, Demographic-Aware Mental Wellness Agent</a:t>
            </a:r>
            <a:endParaRPr lang="en-US" dirty="0"/>
          </a:p>
          <a:p>
            <a:pPr>
              <a:buNone/>
            </a:pPr>
            <a:r>
              <a:rPr lang="en-US" sz="1450" b="1" dirty="0"/>
              <a:t>Dual Input</a:t>
            </a:r>
          </a:p>
          <a:p>
            <a:pPr marL="342900" indent="-342900">
              <a:buChar char="•"/>
            </a:pPr>
            <a:r>
              <a:rPr lang="en-US" sz="1350" dirty="0"/>
              <a:t>User types a message OR speaks into a microphone — both inputs are accepted simultaneously</a:t>
            </a:r>
            <a:endParaRPr lang="en-US" dirty="0"/>
          </a:p>
          <a:p>
            <a:pPr>
              <a:buNone/>
            </a:pPr>
            <a:r>
              <a:rPr lang="en-US" sz="1450" b="1" dirty="0"/>
              <a:t>Persona Detection</a:t>
            </a:r>
          </a:p>
          <a:p>
            <a:pPr marL="342900" indent="-342900">
              <a:buChar char="•"/>
            </a:pPr>
            <a:r>
              <a:rPr lang="en-US" sz="1350" dirty="0"/>
              <a:t>System identifies the user as Student, Adult, or Senior Citizen and routes to a persona-specific model</a:t>
            </a:r>
            <a:endParaRPr lang="en-US" dirty="0"/>
          </a:p>
          <a:p>
            <a:pPr>
              <a:buNone/>
            </a:pPr>
            <a:r>
              <a:rPr lang="en-US" sz="1450" b="1" dirty="0"/>
              <a:t>Text Channel</a:t>
            </a:r>
          </a:p>
          <a:p>
            <a:pPr marL="342900" indent="-342900">
              <a:buChar char="•"/>
            </a:pPr>
            <a:r>
              <a:rPr lang="en-US" sz="1350" dirty="0"/>
              <a:t>MentalBERT fine-tuned on Reddit Mental Health Dataset — detects depression, anxiety, stress from written text</a:t>
            </a:r>
            <a:endParaRPr lang="en-US" dirty="0"/>
          </a:p>
          <a:p>
            <a:pPr>
              <a:buNone/>
            </a:pPr>
            <a:r>
              <a:rPr lang="en-US" sz="1450" b="1" dirty="0"/>
              <a:t>Voice Channel</a:t>
            </a:r>
          </a:p>
          <a:p>
            <a:pPr marL="342900" indent="-342900">
              <a:buChar char="•"/>
            </a:pPr>
            <a:r>
              <a:rPr lang="en-US" sz="1350" dirty="0"/>
              <a:t>1D CNN trained on RAVDESS audio dataset — extracts MFCC, pitch, energy, speech rate for tone analysis</a:t>
            </a:r>
            <a:endParaRPr lang="en-US" dirty="0"/>
          </a:p>
          <a:p>
            <a:pPr>
              <a:buNone/>
            </a:pPr>
            <a:r>
              <a:rPr lang="en-US" sz="1450" b="1" dirty="0"/>
              <a:t>Weighted Fusion</a:t>
            </a:r>
          </a:p>
          <a:p>
            <a:pPr marL="342900" indent="-342900">
              <a:buChar char="•"/>
            </a:pPr>
            <a:r>
              <a:rPr lang="en-US" sz="1350" dirty="0"/>
              <a:t>Text score (55%) + Voice score (45%) combined into a Wellness Index 0–100 with severity classification</a:t>
            </a:r>
            <a:endParaRPr lang="en-US" dirty="0"/>
          </a:p>
          <a:p>
            <a:pPr>
              <a:buNone/>
            </a:pPr>
            <a:r>
              <a:rPr lang="en-US" sz="1450" b="1" dirty="0"/>
              <a:t>Output</a:t>
            </a:r>
          </a:p>
          <a:p>
            <a:pPr marL="342900" indent="-342900">
              <a:buChar char="•"/>
            </a:pPr>
            <a:r>
              <a:rPr lang="en-US" sz="1350" dirty="0"/>
              <a:t>Severity level + LIME word highlights + 3 persona-specific daily wellness activities — shown in Streamlit demo</a:t>
            </a:r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600" b="1" dirty="0">
                <a:solidFill>
                  <a:srgbClr val="1F3864"/>
                </a:solidFill>
              </a:rPr>
              <a:t>Primary Goal</a:t>
            </a:r>
            <a:endParaRPr lang="en-US" dirty="0"/>
          </a:p>
          <a:p>
            <a:pPr>
              <a:buNone/>
            </a:pPr>
            <a:r>
              <a:rPr lang="en-US" sz="1400" dirty="0"/>
              <a:t>To build a working prototype that detects mental health risk from both typed text and spoken voice, segments the prediction by demographic persona, and delivers actionable wellness recommendations — all demonstrated live to external examiners.</a:t>
            </a:r>
            <a:endParaRPr lang="en-US" dirty="0"/>
          </a:p>
          <a:p>
            <a:pPr>
              <a:buNone/>
            </a:pPr>
            <a:r>
              <a:rPr lang="en-US" sz="1600" b="1" dirty="0">
                <a:solidFill>
                  <a:srgbClr val="1F3864"/>
                </a:solidFill>
              </a:rPr>
              <a:t>Specific Objectives</a:t>
            </a:r>
            <a:endParaRPr lang="en-US" dirty="0"/>
          </a:p>
          <a:p>
            <a:pPr marL="342900" indent="-342900">
              <a:buChar char="•"/>
            </a:pPr>
            <a:r>
              <a:rPr lang="en-US" sz="1400" dirty="0"/>
              <a:t>Train MentalBERT NLP model on Reddit Mental Health Dataset — target accuracy: 88%+</a:t>
            </a:r>
          </a:p>
          <a:p>
            <a:pPr marL="342900" indent="-342900">
              <a:buChar char="•"/>
            </a:pPr>
            <a:r>
              <a:rPr lang="en-US" sz="1400" dirty="0"/>
              <a:t>Train CNN Speech Emotion Recognition model on RAVDESS and CREMA-D — target accuracy: 80%+</a:t>
            </a:r>
          </a:p>
          <a:p>
            <a:pPr marL="342900" indent="-342900">
              <a:buChar char="•"/>
            </a:pPr>
            <a:r>
              <a:rPr lang="en-US" sz="1400" dirty="0"/>
              <a:t>Build weighted fusion engine combining text and voice scores into a single wellness index</a:t>
            </a:r>
          </a:p>
          <a:p>
            <a:pPr marL="342900" indent="-342900">
              <a:buChar char="•"/>
            </a:pPr>
            <a:r>
              <a:rPr lang="en-US" sz="1400" dirty="0"/>
              <a:t>Implement persona classifier routing Student / Adult / Senior to separate prediction models</a:t>
            </a:r>
          </a:p>
          <a:p>
            <a:pPr marL="342900" indent="-342900">
              <a:buChar char="•"/>
            </a:pPr>
            <a:r>
              <a:rPr lang="en-US" sz="1400" dirty="0"/>
              <a:t>Generate persona-specific daily activity recommendations per severity level</a:t>
            </a:r>
          </a:p>
          <a:p>
            <a:pPr marL="342900" indent="-342900">
              <a:buChar char="•"/>
            </a:pPr>
            <a:r>
              <a:rPr lang="en-US" sz="1400" dirty="0"/>
              <a:t>Add LIME explainability to highlight words that influenced each prediction</a:t>
            </a:r>
          </a:p>
          <a:p>
            <a:pPr marL="342900" indent="-342900">
              <a:buChar char="•"/>
            </a:pPr>
            <a:r>
              <a:rPr lang="en-US" sz="1400" dirty="0"/>
              <a:t>Deploy interactive Streamlit demo that runs offline on a single laptop for viva presentation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sz="1400" b="1" dirty="0">
                <a:solidFill>
                  <a:srgbClr val="1F5C1A"/>
                </a:solidFill>
              </a:rPr>
              <a:t>Success Metric: Examiner can interact live with the system — type or speak — and see a meaningful, explainable wellness output within 3 seconds.</a:t>
            </a:r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1F3864"/>
                </a:solidFill>
              </a:rPr>
              <a:t>System Overview — 5-Layer Pipeline</a:t>
            </a:r>
          </a:p>
          <a:p>
            <a:endParaRPr lang="en-US" dirty="0"/>
          </a:p>
          <a:p>
            <a:pPr marL="342900" indent="-342900">
              <a:buChar char="•"/>
            </a:pPr>
            <a:r>
              <a:rPr lang="en-US" sz="1350" dirty="0"/>
              <a:t>Layer 1 — Input:  User types text  OR  speaks into microphone</a:t>
            </a:r>
          </a:p>
          <a:p>
            <a:pPr marL="342900" indent="-342900">
              <a:buChar char="•"/>
            </a:pPr>
            <a:r>
              <a:rPr lang="en-US" sz="1350" dirty="0"/>
              <a:t>Layer 2 — Preprocessing:  Text → clean → tokenise (BertTokenizer)  |  Voice → Whisper transcription → librosa MFCC/pitch/energy extraction</a:t>
            </a:r>
          </a:p>
          <a:p>
            <a:pPr marL="342900" indent="-342900">
              <a:buChar char="•"/>
            </a:pPr>
            <a:r>
              <a:rPr lang="en-US" sz="1350" dirty="0"/>
              <a:t>Layer 3 — Persona Detection:  Classify user as Student / Adult / Senior → route to persona-specific model</a:t>
            </a:r>
          </a:p>
          <a:p>
            <a:pPr marL="342900" indent="-342900">
              <a:buChar char="•"/>
            </a:pPr>
            <a:r>
              <a:rPr lang="en-US" sz="1350" dirty="0"/>
              <a:t>Layer 4 — Dual AI Models:  NLP Channel: MentalBERT → text emotion score  |  SER Channel: 1D CNN → voice tone score</a:t>
            </a:r>
          </a:p>
          <a:p>
            <a:pPr marL="342900" indent="-342900">
              <a:buChar char="•"/>
            </a:pPr>
            <a:r>
              <a:rPr lang="en-US" sz="1350" dirty="0"/>
              <a:t>Layer 5 — Fusion Engine:  Weighted ensemble (55% text + 45% voice) → Wellness Score 0–100 → Severity: No-risk / Mild / Moderate / Severe</a:t>
            </a:r>
          </a:p>
          <a:p>
            <a:pPr marL="342900" indent="-342900">
              <a:buChar char="•"/>
            </a:pPr>
            <a:r>
              <a:rPr lang="en-US" sz="1350" dirty="0"/>
              <a:t>Layer 6 — Output:  Severity label + LIME word highlights + 3 daily activities + Streamlit dashboard</a:t>
            </a:r>
          </a:p>
          <a:p>
            <a:endParaRPr lang="en-US" dirty="0"/>
          </a:p>
          <a:p>
            <a:pPr>
              <a:buNone/>
            </a:pPr>
            <a:r>
              <a:rPr lang="en-US" sz="1450" b="1" dirty="0">
                <a:solidFill>
                  <a:srgbClr val="1F3864"/>
                </a:solidFill>
              </a:rPr>
              <a:t>Key Design Insight</a:t>
            </a:r>
          </a:p>
          <a:p>
            <a:pPr>
              <a:buNone/>
            </a:pPr>
            <a:r>
              <a:rPr lang="en-US" sz="1350" dirty="0">
                <a:solidFill>
                  <a:srgbClr val="C00000"/>
                </a:solidFill>
              </a:rPr>
              <a:t>Voice catches what text hides — 'I am fine' typed vs spoken in a flat, slow, emotionless tone gives different scores. Fusion of both is more accurate than either alone.</a:t>
            </a:r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8652-565B-A494-C70D-9B7AFF0C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6C89AC68-E3D6-2FFA-938B-AFA3B6CF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49DDA-C07C-1B23-9544-D29B59E0F5E4}"/>
              </a:ext>
            </a:extLst>
          </p:cNvPr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A62592-DBC0-0C4F-86C0-EE5C5FA8D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70" y="206682"/>
            <a:ext cx="7280032" cy="608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1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— Explanation of Architectural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450" b="1" dirty="0">
                <a:solidFill>
                  <a:srgbClr val="1F3864"/>
                </a:solidFill>
              </a:rPr>
              <a:t>Module 1 — Data Collection</a:t>
            </a:r>
          </a:p>
          <a:p>
            <a:pPr marL="342900" indent="-342900">
              <a:buChar char="•"/>
            </a:pPr>
            <a:r>
              <a:rPr lang="en-US" sz="1300" dirty="0"/>
              <a:t>Onboarding: user selects persona. Inputs daily journal text or 10–30 sec voice recording.</a:t>
            </a:r>
            <a:endParaRPr lang="en-US" dirty="0"/>
          </a:p>
          <a:p>
            <a:pPr>
              <a:buNone/>
            </a:pPr>
            <a:r>
              <a:rPr lang="en-US" sz="1450" b="1" dirty="0">
                <a:solidFill>
                  <a:srgbClr val="1F3864"/>
                </a:solidFill>
              </a:rPr>
              <a:t>Module 2 — Text Preprocessing</a:t>
            </a:r>
          </a:p>
          <a:p>
            <a:pPr marL="342900" indent="-342900">
              <a:buChar char="•"/>
            </a:pPr>
            <a:r>
              <a:rPr lang="en-US" sz="1300" dirty="0"/>
              <a:t>Remove URLs, noise, stopwords → tokenise using BertTokenizer → max 512 tokens → feed to </a:t>
            </a:r>
            <a:r>
              <a:rPr lang="en-US" sz="1300" dirty="0" err="1"/>
              <a:t>MentalBERT</a:t>
            </a:r>
            <a:r>
              <a:rPr lang="en-US" sz="1300" dirty="0"/>
              <a:t>.</a:t>
            </a:r>
            <a:endParaRPr lang="en-US" dirty="0"/>
          </a:p>
          <a:p>
            <a:pPr>
              <a:buNone/>
            </a:pPr>
            <a:r>
              <a:rPr lang="en-US" sz="1450" b="1" dirty="0">
                <a:solidFill>
                  <a:srgbClr val="1F3864"/>
                </a:solidFill>
              </a:rPr>
              <a:t>Module 3 — Voice Preprocessing</a:t>
            </a:r>
          </a:p>
          <a:p>
            <a:pPr marL="342900" indent="-342900">
              <a:buChar char="•"/>
            </a:pPr>
            <a:r>
              <a:rPr lang="en-US" sz="1300" dirty="0"/>
              <a:t>Whisper (local) converts speech to text → librosa extracts MFCC (40 coefficients), pitch (Hz), RMS energy, speech rate, jitter → 1D CNN classifies emotion.</a:t>
            </a:r>
            <a:endParaRPr lang="en-US" dirty="0"/>
          </a:p>
          <a:p>
            <a:pPr>
              <a:buNone/>
            </a:pPr>
            <a:r>
              <a:rPr lang="en-US" sz="1450" b="1" dirty="0">
                <a:solidFill>
                  <a:srgbClr val="1F3864"/>
                </a:solidFill>
              </a:rPr>
              <a:t>Module 4 — NLP Prediction</a:t>
            </a:r>
          </a:p>
          <a:p>
            <a:pPr marL="342900" indent="-342900">
              <a:buChar char="•"/>
            </a:pPr>
            <a:r>
              <a:rPr lang="en-US" sz="1300" dirty="0"/>
              <a:t>MentalBERT fine-tuned on 50k Reddit posts → outputs: Depressed / Anxious / Stressed / Lonely / Normal with confidence score.</a:t>
            </a:r>
            <a:endParaRPr lang="en-US" dirty="0"/>
          </a:p>
          <a:p>
            <a:pPr>
              <a:buNone/>
            </a:pPr>
            <a:r>
              <a:rPr lang="en-US" sz="1450" b="1" dirty="0">
                <a:solidFill>
                  <a:srgbClr val="1F3864"/>
                </a:solidFill>
              </a:rPr>
              <a:t>Module 5 — Score Fusion</a:t>
            </a:r>
          </a:p>
          <a:p>
            <a:pPr marL="342900" indent="-342900">
              <a:buChar char="•"/>
            </a:pPr>
            <a:r>
              <a:rPr lang="en-US" sz="1300" dirty="0"/>
              <a:t>Weighted ensemble: Text_score × 0.55 + Voice_score × 0.45 = Wellness Index (0–100). Severity thresholds: 75+ = No-risk, 50–74 = Mild, 25–49 = Moderate, &lt;25 = Severe.</a:t>
            </a:r>
            <a:endParaRPr lang="en-US" dirty="0"/>
          </a:p>
          <a:p>
            <a:pPr>
              <a:buNone/>
            </a:pPr>
            <a:r>
              <a:rPr lang="en-US" sz="1450" b="1" dirty="0">
                <a:solidFill>
                  <a:srgbClr val="1F3864"/>
                </a:solidFill>
              </a:rPr>
              <a:t>Module 6 — Output Generation</a:t>
            </a:r>
          </a:p>
          <a:p>
            <a:pPr marL="342900" indent="-342900">
              <a:buChar char="•"/>
            </a:pPr>
            <a:r>
              <a:rPr lang="en-US" sz="1300" dirty="0"/>
              <a:t>LIME highlights key words → 3 persona+severity matched activities fetched from activity library → displayed on Streamlit dashboard in real time.</a:t>
            </a:r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60670" y="6286193"/>
            <a:ext cx="6870660" cy="365125"/>
          </a:xfrm>
        </p:spPr>
        <p:txBody>
          <a:bodyPr/>
          <a:lstStyle/>
          <a:p>
            <a:pPr algn="ctr"/>
            <a:r>
              <a:rPr lang="en-US" sz="1500" dirty="0">
                <a:solidFill>
                  <a:schemeClr val="tx2">
                    <a:lumMod val="10000"/>
                  </a:schemeClr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2316" y="6245362"/>
            <a:ext cx="190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24 – 08 - 2026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STATISTICS</a:t>
            </a:r>
            <a:endParaRPr/>
          </a:p>
        </p:txBody>
      </p:sp>
      <p:pic>
        <p:nvPicPr>
          <p:cNvPr id="158" name="Google Shape;158;p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03261" y="1846368"/>
            <a:ext cx="3852419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229926" y="2179701"/>
            <a:ext cx="7086600" cy="391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dataset contains 303 patient records with 13 clinical attributes.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target classes consist of 139 disease-positive and 164 disease-negative cases.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 dataset exhibits a relatively balanced class distribution.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 stratified 75:25 split is applied for training and testing.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Five-fold cross-validation is used for model evaluation.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body" idx="1"/>
          </p:nvPr>
        </p:nvSpPr>
        <p:spPr>
          <a:xfrm>
            <a:off x="89966" y="1846262"/>
            <a:ext cx="6525437" cy="4022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4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lang="en-IN" sz="4600"/>
            </a:br>
            <a:r>
              <a:rPr lang="en-IN" sz="6000" b="1"/>
              <a:t>MODEL EVALUATION</a:t>
            </a:r>
            <a:endParaRPr sz="4600" b="1">
              <a:solidFill>
                <a:schemeClr val="dk1"/>
              </a:solidFill>
            </a:endParaRPr>
          </a:p>
        </p:txBody>
      </p:sp>
      <p:sp>
        <p:nvSpPr>
          <p:cNvPr id="166" name="Google Shape;166;p9"/>
          <p:cNvSpPr txBox="1">
            <a:spLocks noGrp="1"/>
          </p:cNvSpPr>
          <p:nvPr>
            <p:ph type="body" idx="1"/>
          </p:nvPr>
        </p:nvSpPr>
        <p:spPr>
          <a:xfrm>
            <a:off x="1127761" y="1621800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IN" sz="2200"/>
              <a:t>  </a:t>
            </a:r>
            <a:endParaRPr/>
          </a:p>
          <a:p>
            <a:pPr marL="91440" lvl="0" indent="-9779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200">
                <a:solidFill>
                  <a:schemeClr val="dk1"/>
                </a:solidFill>
              </a:rPr>
              <a:t>• </a:t>
            </a:r>
            <a:r>
              <a:rPr lang="en-IN" sz="2400"/>
              <a:t>Three ensemble learning algorithms were evaluated: Random Forest, XGBoost, and LightGBM.</a:t>
            </a:r>
            <a:endParaRPr/>
          </a:p>
          <a:p>
            <a:pPr marL="91440" lvl="0" indent="-1066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/>
              <a:t>All models were trained using 300 estimators with optimized hyperparameters.</a:t>
            </a:r>
            <a:endParaRPr/>
          </a:p>
          <a:p>
            <a:pPr marL="91440" lvl="0" indent="-1066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/>
              <a:t>Five-fold stratified cross-validation was employed to assess model stability.</a:t>
            </a:r>
            <a:endParaRPr/>
          </a:p>
          <a:p>
            <a:pPr marL="91440" lvl="0" indent="-1066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/>
              <a:t>Performance was evaluated using accuracy, precision, recall, F1-score, and ROC-AUC.</a:t>
            </a:r>
            <a:endParaRPr/>
          </a:p>
          <a:p>
            <a:pPr marL="91440" lvl="0" indent="-1066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/>
              <a:t>Random Forest achieved an ROC-AUC of 0.944 and an accuracy of 88.2%.</a:t>
            </a:r>
            <a:endParaRPr/>
          </a:p>
          <a:p>
            <a:pPr marL="91440" lvl="0" indent="-1066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/>
              <a:t>Cross-validation was used to examine performance consistency across different data partitions.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200"/>
          </a:p>
        </p:txBody>
      </p:sp>
      <p:sp>
        <p:nvSpPr>
          <p:cNvPr id="167" name="Google Shape;167;p9"/>
          <p:cNvSpPr txBox="1">
            <a:spLocks noGrp="1"/>
          </p:cNvSpPr>
          <p:nvPr>
            <p:ph type="body" idx="2"/>
          </p:nvPr>
        </p:nvSpPr>
        <p:spPr>
          <a:xfrm>
            <a:off x="6217920" y="2237621"/>
            <a:ext cx="4937760" cy="3631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25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/>
          </a:p>
        </p:txBody>
      </p:sp>
      <p:pic>
        <p:nvPicPr>
          <p:cNvPr id="168" name="Google Shape;16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0449" y="1845735"/>
            <a:ext cx="5357324" cy="4244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988122" y="125742"/>
            <a:ext cx="9098270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IN" sz="6000" b="1"/>
              <a:t>CONFIDENCE</a:t>
            </a:r>
            <a:r>
              <a:rPr lang="en-IN" sz="6000"/>
              <a:t> </a:t>
            </a:r>
            <a:r>
              <a:rPr lang="en-IN" sz="6000" b="1"/>
              <a:t>CALIBRATION AND EXPLAINABILITY</a:t>
            </a:r>
            <a:endParaRPr sz="6000" b="1">
              <a:solidFill>
                <a:schemeClr val="dk1"/>
              </a:solidFill>
            </a:endParaRPr>
          </a:p>
        </p:txBody>
      </p:sp>
      <p:sp>
        <p:nvSpPr>
          <p:cNvPr id="174" name="Google Shape;174;p10"/>
          <p:cNvSpPr txBox="1">
            <a:spLocks noGrp="1"/>
          </p:cNvSpPr>
          <p:nvPr>
            <p:ph type="body" idx="1"/>
          </p:nvPr>
        </p:nvSpPr>
        <p:spPr>
          <a:xfrm>
            <a:off x="171449" y="2046542"/>
            <a:ext cx="8301039" cy="354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 sz="2000">
                <a:solidFill>
                  <a:schemeClr val="dk1"/>
                </a:solidFill>
              </a:rPr>
              <a:t>• </a:t>
            </a:r>
            <a:r>
              <a:rPr lang="en-IN"/>
              <a:t>Probability Calibration: Isotonic regression is used to calibrate the predicted probabilities.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Reliable Risk Estimation: Improves the reliability of predicted heart disease risk probabilities.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Global Explainability: SHAP identifies the most influential clinical features in the model.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Local Explainability: SHAP explains individual predictions by showing how clinical features contribute to the output.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Transparent Predictions: Helps users understand the factors influencing the model's risk predictions.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chemeClr val="dk1"/>
              </a:solidFill>
            </a:endParaRPr>
          </a:p>
        </p:txBody>
      </p:sp>
      <p:pic>
        <p:nvPicPr>
          <p:cNvPr id="175" name="Google Shape;17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7981" y="2004554"/>
            <a:ext cx="3622570" cy="306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title"/>
          </p:nvPr>
        </p:nvSpPr>
        <p:spPr>
          <a:xfrm>
            <a:off x="1236018" y="541176"/>
            <a:ext cx="7301492" cy="104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IN" sz="6000" b="1"/>
              <a:t>WHY RANDOM FOREST?</a:t>
            </a:r>
            <a:endParaRPr sz="6000" b="1">
              <a:solidFill>
                <a:schemeClr val="dk1"/>
              </a:solidFill>
            </a:endParaRPr>
          </a:p>
        </p:txBody>
      </p:sp>
      <p:sp>
        <p:nvSpPr>
          <p:cNvPr id="181" name="Google Shape;181;p11"/>
          <p:cNvSpPr txBox="1">
            <a:spLocks noGrp="1"/>
          </p:cNvSpPr>
          <p:nvPr>
            <p:ph type="body" idx="1"/>
          </p:nvPr>
        </p:nvSpPr>
        <p:spPr>
          <a:xfrm>
            <a:off x="848020" y="1908401"/>
            <a:ext cx="11176029" cy="412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91440" lvl="0" indent="-12922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IN" sz="2200">
                <a:solidFill>
                  <a:schemeClr val="dk1"/>
                </a:solidFill>
              </a:rPr>
              <a:t> • </a:t>
            </a:r>
            <a:r>
              <a:rPr lang="en-IN" sz="2400" b="1"/>
              <a:t>Suitable for Tabular Data: </a:t>
            </a:r>
            <a:r>
              <a:rPr lang="en-IN" sz="2400"/>
              <a:t>Effectively handles structured clinical data from the Cleveland Heart Disease dataset.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 b="1"/>
              <a:t>Captures Nonlinear Relationships: </a:t>
            </a:r>
            <a:r>
              <a:rPr lang="en-IN" sz="2400"/>
              <a:t>Identifies complex interactions among clinical attributes.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 b="1"/>
              <a:t>Ensemble Learning: </a:t>
            </a:r>
            <a:r>
              <a:rPr lang="en-IN" sz="2400"/>
              <a:t>Combines multiple decision trees to improve prediction robustness.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 b="1"/>
              <a:t>Reduced Overfitting: </a:t>
            </a:r>
            <a:r>
              <a:rPr lang="en-IN" sz="2400"/>
              <a:t>Uses bootstrap sampling and random feature selection to reduce variance.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 b="1"/>
              <a:t>Comparative Performance: </a:t>
            </a:r>
            <a:r>
              <a:rPr lang="en-IN" sz="2400"/>
              <a:t>Achieved an ROC-AUC of 0.944, compared with 0.928 for XGBoost and 0.929 for LightGBM.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>
                <a:solidFill>
                  <a:schemeClr val="dk1"/>
                </a:solidFill>
              </a:rPr>
              <a:t>• </a:t>
            </a:r>
            <a:r>
              <a:rPr lang="en-IN" sz="2400" b="1"/>
              <a:t>Explainability: </a:t>
            </a:r>
            <a:r>
              <a:rPr lang="en-IN" sz="2400"/>
              <a:t>Supports SHAP-based global and patient-specific explanations.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Calibri"/>
              <a:buNone/>
            </a:pPr>
            <a:r>
              <a:rPr lang="en-IN" sz="6000" b="1"/>
              <a:t>CardioShield Architecture Overview</a:t>
            </a:r>
            <a:endParaRPr sz="6000" b="1">
              <a:solidFill>
                <a:schemeClr val="dk1"/>
              </a:solidFill>
            </a:endParaRPr>
          </a:p>
        </p:txBody>
      </p:sp>
      <p:sp>
        <p:nvSpPr>
          <p:cNvPr id="187" name="Google Shape;187;p12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Input: 13 clinical features from the Cleveland dataset.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Model selection: Random Forest, XGBoost, and LightGBM are compared.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Calibration: Isotonic regression improves probability reliability.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Interpretability: SHAP explains feature contributions to predictions.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Output: Calibrated heart disease risk probability with explanations.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/>
              <a:t>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chemeClr val="dk1"/>
              </a:solidFill>
            </a:endParaRPr>
          </a:p>
        </p:txBody>
      </p:sp>
      <p:pic>
        <p:nvPicPr>
          <p:cNvPr id="188" name="Google Shape;188;p1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07692" y="1846263"/>
            <a:ext cx="4558217" cy="402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 b="1">
                <a:solidFill>
                  <a:schemeClr val="dk1"/>
                </a:solidFill>
              </a:rPr>
              <a:t>Architecture Flow</a:t>
            </a:r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body" idx="1"/>
          </p:nvPr>
        </p:nvSpPr>
        <p:spPr>
          <a:xfrm>
            <a:off x="1115568" y="1867579"/>
            <a:ext cx="10514457" cy="429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91440" lvl="0" indent="-1409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1</a:t>
            </a:r>
            <a:r>
              <a:rPr lang="en-IN" sz="2400">
                <a:solidFill>
                  <a:srgbClr val="8D4120"/>
                </a:solidFill>
              </a:rPr>
              <a:t>.</a:t>
            </a:r>
            <a:r>
              <a:rPr lang="en-IN" sz="2400"/>
              <a:t>Dataset Collection: Cleveland Heart Disease Dataset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2.</a:t>
            </a:r>
            <a:r>
              <a:rPr lang="en-IN" sz="2400"/>
              <a:t>Data Preprocessing: Handle data and prepare clinical features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3.</a:t>
            </a:r>
            <a:r>
              <a:rPr lang="en-IN" sz="2400"/>
              <a:t>Data Splitting: Stratified 75:25 train-test split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4</a:t>
            </a:r>
            <a:r>
              <a:rPr lang="en-IN" sz="2400"/>
              <a:t>.Model Training: Random Forest, XGBoost, and LightGBM</a:t>
            </a:r>
            <a:endParaRPr sz="2400"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5.</a:t>
            </a:r>
            <a:r>
              <a:rPr lang="en-IN" sz="2400"/>
              <a:t>Model Evaluation: 5-fold stratified cross-validation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6.</a:t>
            </a:r>
            <a:r>
              <a:rPr lang="en-IN" sz="2400"/>
              <a:t>Model Selection: Random Forest based on performance (AUC: 0.944)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7.</a:t>
            </a:r>
            <a:r>
              <a:rPr lang="en-IN" sz="2400"/>
              <a:t>Confidence Calibration: Isotonic regression to improve probability reliability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8.</a:t>
            </a:r>
            <a:r>
              <a:rPr lang="en-IN" sz="2400"/>
              <a:t>Explainability: SHAP for global feature importance and individual predictions</a:t>
            </a:r>
            <a:endParaRPr/>
          </a:p>
          <a:p>
            <a:pPr marL="91440" lvl="0" indent="-14097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2400" b="1">
                <a:solidFill>
                  <a:srgbClr val="8D4120"/>
                </a:solidFill>
              </a:rPr>
              <a:t>9.</a:t>
            </a:r>
            <a:r>
              <a:rPr lang="en-IN" sz="2400"/>
              <a:t>Final Output: Heart disease risk prediction with confidence-aware probabilities and explanations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>
            <a:spLocks noGrp="1"/>
          </p:cNvSpPr>
          <p:nvPr>
            <p:ph type="title"/>
          </p:nvPr>
        </p:nvSpPr>
        <p:spPr>
          <a:xfrm>
            <a:off x="1137034" y="380997"/>
            <a:ext cx="9392421" cy="133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IN" sz="6600" b="1">
                <a:solidFill>
                  <a:schemeClr val="dk1"/>
                </a:solidFill>
              </a:rPr>
              <a:t>Baseline Comparison</a:t>
            </a:r>
            <a:endParaRPr sz="6600" b="1">
              <a:solidFill>
                <a:schemeClr val="dk1"/>
              </a:solidFill>
            </a:endParaRPr>
          </a:p>
        </p:txBody>
      </p:sp>
      <p:sp>
        <p:nvSpPr>
          <p:cNvPr id="200" name="Google Shape;200;p14"/>
          <p:cNvSpPr txBox="1">
            <a:spLocks noGrp="1"/>
          </p:cNvSpPr>
          <p:nvPr>
            <p:ph type="body" idx="1"/>
          </p:nvPr>
        </p:nvSpPr>
        <p:spPr>
          <a:xfrm>
            <a:off x="485776" y="1997506"/>
            <a:ext cx="7215187" cy="391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9144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IN" sz="1900" b="1">
                <a:solidFill>
                  <a:schemeClr val="dk1"/>
                </a:solidFill>
              </a:rPr>
              <a:t>• </a:t>
            </a:r>
            <a:r>
              <a:rPr lang="en-IN" b="1"/>
              <a:t>Framingham Risk Score (FRS):</a:t>
            </a:r>
            <a:r>
              <a:rPr lang="en-IN"/>
              <a:t> Traditional clinical risk assessment method.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Logistic Regression:</a:t>
            </a:r>
            <a:r>
              <a:rPr lang="en-IN"/>
              <a:t> Task-matched machine learning baseline.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Random Forest:</a:t>
            </a:r>
            <a:r>
              <a:rPr lang="en-IN"/>
              <a:t> Proposed model for nonlinear clinical patterns.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ROC-AUC Comparison:</a:t>
            </a:r>
            <a:r>
              <a:rPr lang="en-IN"/>
              <a:t>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IN"/>
              <a:t>Framingham Risk Score: </a:t>
            </a:r>
            <a:r>
              <a:rPr lang="en-IN" b="1"/>
              <a:t>0.730</a:t>
            </a:r>
            <a:r>
              <a:rPr lang="en-IN"/>
              <a:t>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IN"/>
              <a:t>Logistic Regression: </a:t>
            </a:r>
            <a:r>
              <a:rPr lang="en-IN" b="1"/>
              <a:t>0.930</a:t>
            </a:r>
            <a:r>
              <a:rPr lang="en-IN"/>
              <a:t> </a:t>
            </a:r>
            <a:endParaRPr/>
          </a:p>
          <a:p>
            <a:pPr marL="384048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IN"/>
              <a:t>Random Forest: </a:t>
            </a:r>
            <a:r>
              <a:rPr lang="en-IN" b="1"/>
              <a:t>0.944</a:t>
            </a:r>
            <a:r>
              <a:rPr lang="en-IN"/>
              <a:t>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Key Observation:</a:t>
            </a:r>
            <a:r>
              <a:rPr lang="en-IN"/>
              <a:t> Random Forest achieved the highest ROC-AUC among the compared methods.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endParaRPr sz="1900">
              <a:solidFill>
                <a:schemeClr val="dk1"/>
              </a:solidFill>
            </a:endParaRPr>
          </a:p>
        </p:txBody>
      </p:sp>
      <p:pic>
        <p:nvPicPr>
          <p:cNvPr id="201" name="Google Shape;2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9929" y="2527150"/>
            <a:ext cx="4143194" cy="2094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Calibri"/>
              <a:buNone/>
            </a:pPr>
            <a:r>
              <a:rPr lang="en-IN" sz="6000" b="1"/>
              <a:t>Training Dynamics – 5-Fold Cross-Validation</a:t>
            </a:r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9144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IN" sz="1900" b="1"/>
              <a:t> 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900" b="1"/>
              <a:t> </a:t>
            </a:r>
            <a:r>
              <a:rPr lang="en-IN" sz="1800" b="1"/>
              <a:t>5-fold stratified cross-validation</a:t>
            </a:r>
            <a:r>
              <a:rPr lang="en-IN" sz="1800"/>
              <a:t> was used to evaluate model stability. 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IN" sz="1800" b="1"/>
              <a:t>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800" b="1"/>
              <a:t> </a:t>
            </a:r>
            <a:r>
              <a:rPr lang="en-IN" sz="1800"/>
              <a:t>Random Forest achieved consistent ROC-AUC across all five folds. 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IN" sz="1800" b="1"/>
              <a:t>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800" b="1"/>
              <a:t> Fold-wise ROC-AUC:</a:t>
            </a:r>
            <a:r>
              <a:rPr lang="en-IN" sz="1800"/>
              <a:t> 0.882, 0.867, 0.913, 0.839, 0.942 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IN" sz="1800" b="1"/>
              <a:t>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800" b="1"/>
              <a:t> Mean ROC-AUC:</a:t>
            </a:r>
            <a:r>
              <a:rPr lang="en-IN" sz="1800"/>
              <a:t> 0.888 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IN" sz="1800" b="1"/>
              <a:t>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800" b="1"/>
              <a:t> Standard deviation:</a:t>
            </a:r>
            <a:r>
              <a:rPr lang="en-IN" sz="1800"/>
              <a:t> ±0.036 </a:t>
            </a:r>
            <a:endParaRPr/>
          </a:p>
          <a:p>
            <a:pPr marL="91440" lvl="0" indent="-1143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lang="en-IN" sz="1800" b="1"/>
              <a:t>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1800" b="1"/>
              <a:t> </a:t>
            </a:r>
            <a:r>
              <a:rPr lang="en-IN" sz="1800"/>
              <a:t>No fold scored below </a:t>
            </a:r>
            <a:r>
              <a:rPr lang="en-IN" sz="1800" b="1"/>
              <a:t>0.83</a:t>
            </a:r>
            <a:r>
              <a:rPr lang="en-IN" sz="1800"/>
              <a:t>, indicating stable performance across different data partitions.</a:t>
            </a:r>
            <a:endParaRPr/>
          </a:p>
          <a:p>
            <a:pPr marL="91440" lvl="0" indent="-9144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900"/>
              <a:buNone/>
            </a:pPr>
            <a:r>
              <a:rPr lang="en-IN" sz="1900" b="1"/>
              <a:t> </a:t>
            </a:r>
            <a:endParaRPr sz="1900"/>
          </a:p>
        </p:txBody>
      </p:sp>
      <p:pic>
        <p:nvPicPr>
          <p:cNvPr id="208" name="Google Shape;208;p1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493541" y="1995842"/>
            <a:ext cx="4937125" cy="3349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 b="1">
                <a:solidFill>
                  <a:schemeClr val="dk1"/>
                </a:solidFill>
              </a:rPr>
              <a:t>Prediction Accuracy</a:t>
            </a:r>
            <a:endParaRPr sz="6000" b="1">
              <a:solidFill>
                <a:schemeClr val="dk1"/>
              </a:solidFill>
            </a:endParaRPr>
          </a:p>
        </p:txBody>
      </p:sp>
      <p:sp>
        <p:nvSpPr>
          <p:cNvPr id="214" name="Google Shape;214;p16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Random Forest achieved the highest test accuracy of 88.2%.</a:t>
            </a:r>
            <a:r>
              <a:rPr lang="en-IN"/>
              <a:t>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Precision:</a:t>
            </a:r>
            <a:r>
              <a:rPr lang="en-IN"/>
              <a:t> 84.2%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Recall (Sensitivity):</a:t>
            </a:r>
            <a:r>
              <a:rPr lang="en-IN"/>
              <a:t> 91.4%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F1-Score:</a:t>
            </a:r>
            <a:r>
              <a:rPr lang="en-IN"/>
              <a:t> 87.7%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 b="1"/>
              <a:t>ROC-AUC:</a:t>
            </a:r>
            <a:r>
              <a:rPr lang="en-IN"/>
              <a:t> 94.4%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solidFill>
                  <a:schemeClr val="dk1"/>
                </a:solidFill>
              </a:rPr>
              <a:t>• </a:t>
            </a:r>
            <a:r>
              <a:rPr lang="en-IN"/>
              <a:t>The model showed strong ability to correctly identify patients with heart disease while maintaining balanced overall performance.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15" name="Google Shape;215;p1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27743" y="2054943"/>
            <a:ext cx="6164257" cy="3370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 b="1">
                <a:solidFill>
                  <a:schemeClr val="dk1"/>
                </a:solidFill>
              </a:rPr>
              <a:t>Graph Insights</a:t>
            </a:r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91440" lvl="0" indent="-971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IN" sz="1800" b="1"/>
              <a:t>• Figure 2</a:t>
            </a:r>
            <a:r>
              <a:rPr lang="en-IN" sz="1800"/>
              <a:t> presents the comparative performance of Random Forest, XGBoost, and LightGBM across five evaluation metrics. </a:t>
            </a:r>
            <a:endParaRPr/>
          </a:p>
          <a:p>
            <a:pPr marL="91440" lvl="0" indent="-9715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1800" b="1"/>
              <a:t>• </a:t>
            </a:r>
            <a:r>
              <a:rPr lang="en-IN" sz="1800"/>
              <a:t>Random Forest shows the strongest overall performance, particularly in </a:t>
            </a:r>
            <a:r>
              <a:rPr lang="en-IN" sz="1800" b="1"/>
              <a:t>ROC-AUC (0.944)</a:t>
            </a:r>
            <a:r>
              <a:rPr lang="en-IN" sz="1800"/>
              <a:t> and </a:t>
            </a:r>
            <a:r>
              <a:rPr lang="en-IN" sz="1800" b="1"/>
              <a:t>Recall (0.914)</a:t>
            </a:r>
            <a:r>
              <a:rPr lang="en-IN" sz="1800"/>
              <a:t>. </a:t>
            </a:r>
            <a:endParaRPr/>
          </a:p>
          <a:p>
            <a:pPr marL="91440" lvl="0" indent="-9715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1800" b="1"/>
              <a:t>• Figure 3</a:t>
            </a:r>
            <a:r>
              <a:rPr lang="en-IN" sz="1800"/>
              <a:t> presents the 5-fold cross-validation performance of Random Forest, with a </a:t>
            </a:r>
            <a:r>
              <a:rPr lang="en-IN" sz="1800" b="1"/>
              <a:t>mean ROC-AUC of 0.888 ± 0.036</a:t>
            </a:r>
            <a:r>
              <a:rPr lang="en-IN" sz="1800"/>
              <a:t>. </a:t>
            </a:r>
            <a:endParaRPr/>
          </a:p>
          <a:p>
            <a:pPr marL="91440" lvl="0" indent="-9715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1800" b="1"/>
              <a:t>• </a:t>
            </a:r>
            <a:r>
              <a:rPr lang="en-IN" sz="1800"/>
              <a:t>The consistent fold-wise scores, with </a:t>
            </a:r>
            <a:r>
              <a:rPr lang="en-IN" sz="1800" b="1"/>
              <a:t>no fold below 0.83</a:t>
            </a:r>
            <a:r>
              <a:rPr lang="en-IN" sz="1800"/>
              <a:t>, indicate stable model performance across different data partitions. </a:t>
            </a:r>
            <a:endParaRPr/>
          </a:p>
          <a:p>
            <a:pPr marL="91440" lvl="0" indent="-9715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1800" b="1"/>
              <a:t>• Figure 4</a:t>
            </a:r>
            <a:r>
              <a:rPr lang="en-IN" sz="1800"/>
              <a:t> compares the ROC curves of Random Forest and the Framingham Risk Score; the higher Random Forest curve demonstrates stronger discriminative capability (</a:t>
            </a:r>
            <a:r>
              <a:rPr lang="en-IN" sz="1800" b="1"/>
              <a:t>AUC 0.944 vs. 0.730</a:t>
            </a:r>
            <a:r>
              <a:rPr lang="en-IN" sz="1800"/>
              <a:t>). </a:t>
            </a:r>
            <a:endParaRPr/>
          </a:p>
          <a:p>
            <a:pPr marL="91440" lvl="0" indent="-97155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IN" sz="1800" b="1"/>
              <a:t>• Figure 5</a:t>
            </a:r>
            <a:r>
              <a:rPr lang="en-IN" sz="1800"/>
              <a:t> shows the confusion matrix, where Random Forest correctly identifies </a:t>
            </a:r>
            <a:r>
              <a:rPr lang="en-IN" sz="1800" b="1"/>
              <a:t>32 of 35 disease-positive cases</a:t>
            </a:r>
            <a:r>
              <a:rPr lang="en-IN" sz="1800"/>
              <a:t>, resulting in </a:t>
            </a:r>
            <a:r>
              <a:rPr lang="en-IN" sz="1800" b="1"/>
              <a:t>91.4% recall</a:t>
            </a:r>
            <a:r>
              <a:rPr lang="en-IN" sz="1800"/>
              <a:t>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222" name="Google Shape;22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5394" y="1934612"/>
            <a:ext cx="3166275" cy="202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199200" y="4160259"/>
            <a:ext cx="2898540" cy="2028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 b="1">
                <a:solidFill>
                  <a:schemeClr val="dk1"/>
                </a:solidFill>
              </a:rPr>
              <a:t>Discussion </a:t>
            </a:r>
            <a:endParaRPr sz="6000" b="1">
              <a:solidFill>
                <a:schemeClr val="dk1"/>
              </a:solidFill>
            </a:endParaRPr>
          </a:p>
        </p:txBody>
      </p:sp>
      <p:sp>
        <p:nvSpPr>
          <p:cNvPr id="229" name="Google Shape;229;p18"/>
          <p:cNvSpPr txBox="1">
            <a:spLocks noGrp="1"/>
          </p:cNvSpPr>
          <p:nvPr>
            <p:ph type="body" idx="1"/>
          </p:nvPr>
        </p:nvSpPr>
        <p:spPr>
          <a:xfrm>
            <a:off x="715517" y="1868129"/>
            <a:ext cx="11614596" cy="392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 b="1"/>
              <a:t>Random Forest achieved the best overall performance</a:t>
            </a:r>
            <a:r>
              <a:rPr lang="en-IN"/>
              <a:t>, with an ROC-AUC of </a:t>
            </a:r>
            <a:r>
              <a:rPr lang="en-IN" b="1"/>
              <a:t>0.944</a:t>
            </a:r>
            <a:r>
              <a:rPr lang="en-IN"/>
              <a:t> and accuracy of </a:t>
            </a:r>
            <a:r>
              <a:rPr lang="en-IN" b="1"/>
              <a:t>88.2%</a:t>
            </a:r>
            <a:r>
              <a:rPr lang="en-IN"/>
              <a:t>, outperforming XGBoost and LightGBM.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Its </a:t>
            </a:r>
            <a:r>
              <a:rPr lang="en-IN" b="1"/>
              <a:t>recall of 91.4%</a:t>
            </a:r>
            <a:r>
              <a:rPr lang="en-IN"/>
              <a:t> detected </a:t>
            </a:r>
            <a:r>
              <a:rPr lang="en-IN" b="1"/>
              <a:t>32 of 35 disease-positive cases</a:t>
            </a:r>
            <a:r>
              <a:rPr lang="en-IN"/>
              <a:t>, with only </a:t>
            </a:r>
            <a:r>
              <a:rPr lang="en-IN" b="1"/>
              <a:t>3 false negatives</a:t>
            </a:r>
            <a:r>
              <a:rPr lang="en-IN"/>
              <a:t>, which is important for screening applications.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 b="1"/>
              <a:t>5-fold cross-validation</a:t>
            </a:r>
            <a:r>
              <a:rPr lang="en-IN"/>
              <a:t> showed stable performance, with a mean ROC-AUC of </a:t>
            </a:r>
            <a:r>
              <a:rPr lang="en-IN" b="1"/>
              <a:t>0.888 ± 0.036</a:t>
            </a:r>
            <a:r>
              <a:rPr lang="en-IN"/>
              <a:t> and no fold below </a:t>
            </a:r>
            <a:r>
              <a:rPr lang="en-IN" b="1"/>
              <a:t>0.83</a:t>
            </a:r>
            <a:r>
              <a:rPr lang="en-IN"/>
              <a:t>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 b="1"/>
              <a:t>SHAP analysis</a:t>
            </a:r>
            <a:r>
              <a:rPr lang="en-IN"/>
              <a:t> identified </a:t>
            </a:r>
            <a:r>
              <a:rPr lang="en-IN" b="1"/>
              <a:t>major vessel count, chest pain type, and thalassemia status</a:t>
            </a:r>
            <a:r>
              <a:rPr lang="en-IN"/>
              <a:t> as the most influential predictors, improving model interpretability.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solidFill>
                  <a:schemeClr val="dk1"/>
                </a:solidFill>
              </a:rPr>
              <a:t>• </a:t>
            </a:r>
            <a:r>
              <a:rPr lang="en-IN"/>
              <a:t>External validation showed lower performance across other datasets (</a:t>
            </a:r>
            <a:r>
              <a:rPr lang="en-IN" b="1"/>
              <a:t>AUC 0.875–0.721</a:t>
            </a:r>
            <a:r>
              <a:rPr lang="en-IN"/>
              <a:t>), highlighting the need for broader clinical validation across different populations and institutions.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>
              <a:solidFill>
                <a:schemeClr val="dk1"/>
              </a:solidFill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endParaRPr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1112711" y="541020"/>
            <a:ext cx="10506456" cy="1102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 b="1">
                <a:solidFill>
                  <a:schemeClr val="dk1"/>
                </a:solidFill>
              </a:rPr>
              <a:t>Conclusion </a:t>
            </a:r>
            <a:endParaRPr sz="6000" b="1">
              <a:solidFill>
                <a:schemeClr val="dk1"/>
              </a:solidFill>
            </a:endParaRPr>
          </a:p>
        </p:txBody>
      </p:sp>
      <p:sp>
        <p:nvSpPr>
          <p:cNvPr id="235" name="Google Shape;235;p19"/>
          <p:cNvSpPr txBox="1">
            <a:spLocks noGrp="1"/>
          </p:cNvSpPr>
          <p:nvPr>
            <p:ph type="body" idx="1"/>
          </p:nvPr>
        </p:nvSpPr>
        <p:spPr>
          <a:xfrm>
            <a:off x="642631" y="2035277"/>
            <a:ext cx="11815763" cy="300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 sz="2000" b="1"/>
              <a:t>• </a:t>
            </a:r>
            <a:r>
              <a:rPr lang="en-IN" b="1"/>
              <a:t>Random Forest achieved the highest predictive performance</a:t>
            </a:r>
            <a:r>
              <a:rPr lang="en-IN"/>
              <a:t> with </a:t>
            </a:r>
            <a:r>
              <a:rPr lang="en-IN" b="1"/>
              <a:t>88.2% accuracy</a:t>
            </a:r>
            <a:r>
              <a:rPr lang="en-IN"/>
              <a:t> and </a:t>
            </a:r>
            <a:r>
              <a:rPr lang="en-IN" b="1"/>
              <a:t>0.944 ROC-AUC</a:t>
            </a:r>
            <a:r>
              <a:rPr lang="en-IN"/>
              <a:t>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/>
              <a:t>The model achieved </a:t>
            </a:r>
            <a:r>
              <a:rPr lang="en-IN" b="1"/>
              <a:t>91.4% recall</a:t>
            </a:r>
            <a:r>
              <a:rPr lang="en-IN"/>
              <a:t>, detecting </a:t>
            </a:r>
            <a:r>
              <a:rPr lang="en-IN" b="1"/>
              <a:t>32 of 35 disease-positive cases</a:t>
            </a:r>
            <a:r>
              <a:rPr lang="en-IN"/>
              <a:t>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/>
              <a:t>• SHAP analysis identified major vessel count, chest pain type, and thalassemia status</a:t>
            </a:r>
            <a:r>
              <a:rPr lang="en-IN"/>
              <a:t> as key predictors.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/>
              <a:t>• Isotonic calibration improved the Brier score from 0.101 to 0.093</a:t>
            </a:r>
            <a:r>
              <a:rPr lang="en-IN"/>
              <a:t>, improving probability reliability. 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b="1"/>
              <a:t>• External validation showed reduced performance</a:t>
            </a:r>
            <a:r>
              <a:rPr lang="en-IN"/>
              <a:t>, demonstrating the need for broader validation across clinical datasets.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>
            <a:spLocks noGrp="1"/>
          </p:cNvSpPr>
          <p:nvPr>
            <p:ph type="title"/>
          </p:nvPr>
        </p:nvSpPr>
        <p:spPr>
          <a:xfrm>
            <a:off x="1227011" y="717232"/>
            <a:ext cx="10509504" cy="91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 b="1">
                <a:solidFill>
                  <a:schemeClr val="dk1"/>
                </a:solidFill>
              </a:rPr>
              <a:t>Future Work </a:t>
            </a:r>
            <a:endParaRPr sz="6000" b="1">
              <a:solidFill>
                <a:schemeClr val="dk1"/>
              </a:solidFill>
            </a:endParaRPr>
          </a:p>
        </p:txBody>
      </p:sp>
      <p:sp>
        <p:nvSpPr>
          <p:cNvPr id="241" name="Google Shape;241;p20"/>
          <p:cNvSpPr txBox="1">
            <a:spLocks noGrp="1"/>
          </p:cNvSpPr>
          <p:nvPr>
            <p:ph type="body" idx="1"/>
          </p:nvPr>
        </p:nvSpPr>
        <p:spPr>
          <a:xfrm>
            <a:off x="920215" y="1929009"/>
            <a:ext cx="10509504" cy="408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 "/>
            </a:pPr>
            <a:r>
              <a:rPr lang="en-IN" sz="1400" b="1"/>
              <a:t>  </a:t>
            </a:r>
            <a:r>
              <a:rPr lang="en-IN" sz="1800" b="1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IN" sz="2400" b="1"/>
              <a:t>Validate the model on larger, more diverse patient cohorts</a:t>
            </a:r>
            <a:r>
              <a:rPr lang="en-IN" sz="2400"/>
              <a:t> to improve generalizability. 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IN" sz="2400" b="1"/>
              <a:t>• Perform site-specific recalibration</a:t>
            </a:r>
            <a:r>
              <a:rPr lang="en-IN" sz="2400"/>
              <a:t> to address performance differences across hospitals and datasets. 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IN" sz="2400" b="1"/>
              <a:t>• Conduct subgroup fairness analysis</a:t>
            </a:r>
            <a:r>
              <a:rPr lang="en-IN" sz="2400"/>
              <a:t> to ensure consistent performance across diverse populations. 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IN" sz="2400" b="1"/>
              <a:t>• Expand SHAP-based interpretability</a:t>
            </a:r>
            <a:r>
              <a:rPr lang="en-IN" sz="2400"/>
              <a:t> to strengthen clinician trust and transparency. </a:t>
            </a:r>
            <a:endParaRPr/>
          </a:p>
          <a:p>
            <a:pPr marL="91440" lvl="0" indent="-1524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Char char=" "/>
            </a:pPr>
            <a:r>
              <a:rPr lang="en-IN" sz="2400" b="1"/>
              <a:t>• Develop a clinically actionable deployment framework</a:t>
            </a:r>
            <a:r>
              <a:rPr lang="en-IN" sz="2400"/>
              <a:t> for supporting medical decision-making.</a:t>
            </a:r>
            <a:endParaRPr/>
          </a:p>
          <a:p>
            <a:pPr marL="91440" lvl="0" indent="-91440" algn="l" rtl="0">
              <a:lnSpc>
                <a:spcPct val="21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60834-D1DB-5B6A-3B4C-35F6EBFDC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1093" y="2578261"/>
            <a:ext cx="8144134" cy="137307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10000"/>
                  </a:schemeClr>
                </a:solidFill>
              </a:rPr>
              <a:t>Thank You !!!</a:t>
            </a:r>
            <a:endParaRPr lang="en-IN" b="1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224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60834-D1DB-5B6A-3B4C-35F6EBFDC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1093" y="2578261"/>
            <a:ext cx="8144134" cy="137307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10000"/>
                  </a:schemeClr>
                </a:solidFill>
              </a:rPr>
              <a:t>Queries?</a:t>
            </a:r>
            <a:endParaRPr lang="en-IN" b="1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575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2381</Words>
  <Application>Microsoft Office PowerPoint</Application>
  <PresentationFormat>Widescreen</PresentationFormat>
  <Paragraphs>206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END SEMESTER PROJECT PHASE I- REVIEW</vt:lpstr>
      <vt:lpstr>Abstract</vt:lpstr>
      <vt:lpstr>Motivation</vt:lpstr>
      <vt:lpstr>Literature Survey  </vt:lpstr>
      <vt:lpstr>Literature Survey  </vt:lpstr>
      <vt:lpstr>Disadvantages of Existing System</vt:lpstr>
      <vt:lpstr>Proposed System</vt:lpstr>
      <vt:lpstr>Goal</vt:lpstr>
      <vt:lpstr>Architectural Diagram</vt:lpstr>
      <vt:lpstr>PowerPoint Presentation</vt:lpstr>
      <vt:lpstr>Modules — Explanation of Architectural Diagram</vt:lpstr>
      <vt:lpstr>DATASET STATISTICS</vt:lpstr>
      <vt:lpstr> MODEL EVALUATION</vt:lpstr>
      <vt:lpstr>CONFIDENCE CALIBRATION AND EXPLAINABILITY</vt:lpstr>
      <vt:lpstr>WHY RANDOM FOREST?</vt:lpstr>
      <vt:lpstr>CardioShield Architecture Overview</vt:lpstr>
      <vt:lpstr>Architecture Flow</vt:lpstr>
      <vt:lpstr>Baseline Comparison</vt:lpstr>
      <vt:lpstr>Training Dynamics – 5-Fold Cross-Validation</vt:lpstr>
      <vt:lpstr>Prediction Accuracy</vt:lpstr>
      <vt:lpstr>Graph Insights</vt:lpstr>
      <vt:lpstr>Discussion </vt:lpstr>
      <vt:lpstr>Conclusion </vt:lpstr>
      <vt:lpstr>Future Work </vt:lpstr>
      <vt:lpstr>Thank You !!!</vt:lpstr>
      <vt:lpstr>Queries?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3</dc:title>
  <dc:creator>KAMLESH J V K</dc:creator>
  <cp:lastModifiedBy>vinothkumar A</cp:lastModifiedBy>
  <cp:revision>54</cp:revision>
  <dcterms:created xsi:type="dcterms:W3CDTF">2024-07-23T16:09:44Z</dcterms:created>
  <dcterms:modified xsi:type="dcterms:W3CDTF">2026-10-21T23:50:37Z</dcterms:modified>
</cp:coreProperties>
</file>